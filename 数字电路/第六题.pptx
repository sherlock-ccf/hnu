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2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第六题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60195" y="1313815"/>
            <a:ext cx="4983480" cy="47593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851140" y="2413635"/>
            <a:ext cx="3962400" cy="1435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打开</a:t>
            </a:r>
            <a:r>
              <a:rPr lang="en-US" altLang="zh-CN">
                <a:sym typeface="+mn-ea"/>
              </a:rPr>
              <a:t>pc.v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ir.v</a:t>
            </a:r>
            <a:r>
              <a:rPr lang="zh-CN" altLang="en-US">
                <a:sym typeface="+mn-ea"/>
              </a:rPr>
              <a:t>文件，创建模块的图形符号，选择</a:t>
            </a:r>
            <a:r>
              <a:rPr lang="en-US" altLang="zh-CN">
                <a:sym typeface="+mn-ea"/>
              </a:rPr>
              <a:t>Create/Update</a:t>
            </a:r>
            <a:r>
              <a:rPr lang="zh-CN" altLang="en-US">
                <a:sym typeface="+mn-ea"/>
              </a:rPr>
              <a:t>中的</a:t>
            </a:r>
            <a:r>
              <a:rPr lang="en-US" altLang="zh-CN">
                <a:sym typeface="+mn-ea"/>
              </a:rPr>
              <a:t>Create Symbol File for Current File</a:t>
            </a:r>
            <a:r>
              <a:rPr lang="zh-CN" altLang="en-US">
                <a:sym typeface="+mn-ea"/>
              </a:rPr>
              <a:t>，创建</a:t>
            </a:r>
            <a:r>
              <a:rPr lang="en-US" altLang="zh-CN">
                <a:sym typeface="+mn-ea"/>
              </a:rPr>
              <a:t>pc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ir</a:t>
            </a:r>
            <a:r>
              <a:rPr lang="zh-CN" altLang="en-US">
                <a:sym typeface="+mn-ea"/>
              </a:rPr>
              <a:t>的封装图形符号。</a:t>
            </a:r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5323840" y="2755265"/>
            <a:ext cx="2588895" cy="14992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823595" y="454025"/>
            <a:ext cx="8206105" cy="2426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新建一个原理图设计文件</a:t>
            </a:r>
            <a:r>
              <a:rPr lang="en-US" altLang="zh-CN"/>
              <a:t>(Block Diagram/Schematic File)</a:t>
            </a:r>
            <a:r>
              <a:rPr lang="zh-CN" altLang="en-US"/>
              <a:t>，采用</a:t>
            </a:r>
            <a:r>
              <a:rPr lang="en-US" altLang="zh-CN"/>
              <a:t> Quartus </a:t>
            </a:r>
            <a:r>
              <a:rPr lang="zh-CN" altLang="en-US"/>
              <a:t>中已</a:t>
            </a:r>
            <a:endParaRPr lang="zh-CN" altLang="en-US"/>
          </a:p>
          <a:p>
            <a:r>
              <a:rPr lang="zh-CN" altLang="en-US"/>
              <a:t>有的参数化模块来定制</a:t>
            </a:r>
            <a:r>
              <a:rPr lang="en-US" altLang="zh-CN"/>
              <a:t> RAM </a:t>
            </a:r>
            <a:r>
              <a:rPr lang="zh-CN" altLang="en-US"/>
              <a:t>功能。在【</a:t>
            </a:r>
            <a:r>
              <a:rPr lang="en-US" altLang="zh-CN"/>
              <a:t>Symbol</a:t>
            </a:r>
            <a:r>
              <a:rPr lang="zh-CN" altLang="en-US"/>
              <a:t>】元件库的【</a:t>
            </a:r>
            <a:r>
              <a:rPr lang="en-US" altLang="zh-CN"/>
              <a:t>megafunctions</a:t>
            </a:r>
            <a:r>
              <a:rPr lang="zh-CN" altLang="en-US"/>
              <a:t>】</a:t>
            </a:r>
            <a:r>
              <a:rPr lang="en-US" altLang="zh-CN"/>
              <a:t>|</a:t>
            </a:r>
            <a:endParaRPr lang="en-US" altLang="zh-CN"/>
          </a:p>
          <a:p>
            <a:r>
              <a:rPr lang="zh-CN" altLang="en-US"/>
              <a:t>【</a:t>
            </a:r>
            <a:r>
              <a:rPr lang="en-US" altLang="zh-CN"/>
              <a:t>storage</a:t>
            </a:r>
            <a:r>
              <a:rPr lang="zh-CN" altLang="en-US"/>
              <a:t>】中选择</a:t>
            </a:r>
            <a:r>
              <a:rPr lang="en-US" altLang="zh-CN"/>
              <a:t> LPM_RAM_IO</a:t>
            </a:r>
            <a:r>
              <a:rPr lang="zh-CN" altLang="en-US"/>
              <a:t>，创建</a:t>
            </a:r>
            <a:r>
              <a:rPr lang="en-US" altLang="zh-CN"/>
              <a:t> RAM </a:t>
            </a:r>
            <a:r>
              <a:rPr lang="zh-CN" altLang="en-US"/>
              <a:t>时加载初始化数据文件，初始化</a:t>
            </a:r>
            <a:endParaRPr lang="zh-CN" altLang="en-US"/>
          </a:p>
          <a:p>
            <a:r>
              <a:rPr lang="zh-CN" altLang="en-US"/>
              <a:t>文件的创建过程是：【</a:t>
            </a:r>
            <a:r>
              <a:rPr lang="en-US" altLang="zh-CN"/>
              <a:t>File</a:t>
            </a:r>
            <a:r>
              <a:rPr lang="zh-CN" altLang="en-US"/>
              <a:t>】</a:t>
            </a:r>
            <a:r>
              <a:rPr lang="en-US" altLang="zh-CN"/>
              <a:t>|</a:t>
            </a:r>
            <a:r>
              <a:rPr lang="zh-CN" altLang="en-US"/>
              <a:t>【</a:t>
            </a:r>
            <a:r>
              <a:rPr lang="en-US" altLang="zh-CN"/>
              <a:t>New</a:t>
            </a:r>
            <a:r>
              <a:rPr lang="zh-CN" altLang="en-US"/>
              <a:t>】</a:t>
            </a:r>
            <a:r>
              <a:rPr lang="en-US" altLang="zh-CN"/>
              <a:t>|</a:t>
            </a:r>
            <a:r>
              <a:rPr lang="zh-CN" altLang="en-US"/>
              <a:t>【</a:t>
            </a:r>
            <a:r>
              <a:rPr lang="en-US" altLang="zh-CN"/>
              <a:t>Memory Initialization File</a:t>
            </a:r>
            <a:r>
              <a:rPr lang="zh-CN" altLang="en-US"/>
              <a:t>】。</a:t>
            </a:r>
            <a:endParaRPr lang="zh-CN" altLang="en-US"/>
          </a:p>
          <a:p>
            <a:r>
              <a:rPr lang="zh-CN" altLang="en-US">
                <a:sym typeface="+mn-ea"/>
              </a:rPr>
              <a:t>创建初始化数据文件后，在连续的地址单元存放指令。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10" y="2199005"/>
            <a:ext cx="4780915" cy="39363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694305"/>
            <a:ext cx="10306050" cy="3276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984375" y="1864995"/>
            <a:ext cx="4498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</a:t>
            </a:r>
            <a:r>
              <a:rPr lang="en-US" altLang="zh-CN"/>
              <a:t>pc,ir,LPM_RAM_IO</a:t>
            </a:r>
            <a:r>
              <a:rPr lang="zh-CN" altLang="en-US"/>
              <a:t>导入</a:t>
            </a:r>
            <a:r>
              <a:rPr lang="zh-CN" altLang="en-US">
                <a:sym typeface="+mn-ea"/>
              </a:rPr>
              <a:t>原理图设计文件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97470" y="1645920"/>
            <a:ext cx="3538855" cy="4759325"/>
          </a:xfrm>
        </p:spPr>
        <p:txBody>
          <a:bodyPr/>
          <a:p>
            <a:pPr marL="0" indent="0">
              <a:buNone/>
            </a:pPr>
            <a:r>
              <a:rPr lang="zh-CN" altLang="en-US">
                <a:sym typeface="+mn-ea"/>
              </a:rPr>
              <a:t>双击表格，设置各项属性的值和类型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225" y="450215"/>
            <a:ext cx="6860540" cy="62439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连接对应的端口，完成电路，全编译之后进行</a:t>
            </a:r>
            <a:r>
              <a:rPr lang="zh-CN" altLang="en-US"/>
              <a:t>仿真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" y="2388870"/>
            <a:ext cx="12192000" cy="37884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85" y="2410460"/>
            <a:ext cx="10100310" cy="28060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5970" y="380365"/>
            <a:ext cx="789813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sym typeface="+mn-ea"/>
              </a:rPr>
              <a:t>设置</a:t>
            </a:r>
            <a:r>
              <a:rPr lang="en-US" altLang="zh-CN">
                <a:sym typeface="+mn-ea"/>
              </a:rPr>
              <a:t>clk</a:t>
            </a:r>
            <a:r>
              <a:rPr lang="zh-CN" altLang="en-US">
                <a:sym typeface="+mn-ea"/>
              </a:rPr>
              <a:t>为信号周期，inlock值与</a:t>
            </a:r>
            <a:r>
              <a:rPr lang="en-US" altLang="zh-CN">
                <a:sym typeface="+mn-ea"/>
              </a:rPr>
              <a:t>clk</a:t>
            </a:r>
            <a:r>
              <a:rPr lang="zh-CN" altLang="en-US">
                <a:sym typeface="+mn-ea"/>
              </a:rPr>
              <a:t>相同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ym typeface="+mn-ea"/>
              </a:rPr>
              <a:t>we </a:t>
            </a:r>
            <a:r>
              <a:rPr lang="zh-CN" altLang="en-US">
                <a:sym typeface="+mn-ea"/>
              </a:rPr>
              <a:t>= 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（不写入</a:t>
            </a:r>
            <a:r>
              <a:rPr lang="en-US" altLang="zh-CN">
                <a:sym typeface="+mn-ea"/>
              </a:rPr>
              <a:t>RAM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algn="l"/>
            <a:r>
              <a:rPr lang="en-US" altLang="zh-CN">
                <a:sym typeface="+mn-ea"/>
              </a:rPr>
              <a:t>outenab </a:t>
            </a:r>
            <a:r>
              <a:rPr lang="zh-CN" altLang="en-US">
                <a:sym typeface="+mn-ea"/>
              </a:rPr>
              <a:t>= 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（允许</a:t>
            </a:r>
            <a:r>
              <a:rPr lang="en-US" altLang="zh-CN">
                <a:sym typeface="+mn-ea"/>
              </a:rPr>
              <a:t>RAM</a:t>
            </a:r>
            <a:r>
              <a:rPr lang="zh-CN" altLang="en-US">
                <a:sym typeface="+mn-ea"/>
              </a:rPr>
              <a:t>输出）</a:t>
            </a:r>
            <a:endParaRPr lang="zh-CN" altLang="en-US"/>
          </a:p>
          <a:p>
            <a:pPr algn="l"/>
            <a:r>
              <a:rPr lang="en-US" altLang="zh-CN">
                <a:sym typeface="+mn-ea"/>
              </a:rPr>
              <a:t>ld_ir </a:t>
            </a:r>
            <a:r>
              <a:rPr lang="zh-CN" altLang="en-US">
                <a:sym typeface="+mn-ea"/>
              </a:rPr>
              <a:t>= 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（允许</a:t>
            </a:r>
            <a:r>
              <a:rPr lang="en-US" altLang="zh-CN">
                <a:sym typeface="+mn-ea"/>
              </a:rPr>
              <a:t>IR</a:t>
            </a:r>
            <a:r>
              <a:rPr lang="zh-CN" altLang="en-US">
                <a:sym typeface="+mn-ea"/>
              </a:rPr>
              <a:t>加载）</a:t>
            </a:r>
            <a:endParaRPr lang="zh-CN" altLang="en-US"/>
          </a:p>
          <a:p>
            <a:pPr algn="l"/>
            <a:r>
              <a:rPr lang="en-US" altLang="zh-CN">
                <a:sym typeface="+mn-ea"/>
              </a:rPr>
              <a:t>in_pc </a:t>
            </a:r>
            <a:r>
              <a:rPr lang="zh-CN" altLang="en-US">
                <a:sym typeface="+mn-ea"/>
              </a:rPr>
              <a:t>= 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PC</a:t>
            </a:r>
            <a:r>
              <a:rPr lang="zh-CN" altLang="en-US">
                <a:sym typeface="+mn-ea"/>
              </a:rPr>
              <a:t>计数模式）</a:t>
            </a:r>
            <a:endParaRPr lang="zh-CN" altLang="en-US"/>
          </a:p>
          <a:p>
            <a:pPr algn="l"/>
            <a:r>
              <a:rPr lang="en-US" altLang="zh-CN">
                <a:sym typeface="+mn-ea"/>
              </a:rPr>
              <a:t>ld_pc </a:t>
            </a:r>
            <a:r>
              <a:rPr lang="zh-CN" altLang="en-US">
                <a:sym typeface="+mn-ea"/>
              </a:rPr>
              <a:t>= 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（不加载新地址）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59130" y="5447665"/>
            <a:ext cx="69811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从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开始计数，每一个周期（</a:t>
            </a:r>
            <a:r>
              <a:rPr lang="en-US" altLang="zh-CN">
                <a:sym typeface="+mn-ea"/>
              </a:rPr>
              <a:t>20ns</a:t>
            </a:r>
            <a:r>
              <a:rPr lang="zh-CN" altLang="en-US">
                <a:sym typeface="+mn-ea"/>
              </a:rPr>
              <a:t>）计数一次</a:t>
            </a:r>
            <a:endParaRPr lang="zh-CN" altLang="en-US"/>
          </a:p>
          <a:p>
            <a:pPr algn="l"/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按地址输出对应的数据</a:t>
            </a:r>
            <a:endParaRPr lang="en-US" altLang="zh-CN"/>
          </a:p>
          <a:p>
            <a:pPr algn="l"/>
            <a:r>
              <a:rPr lang="zh-CN" altLang="en-US">
                <a:sym typeface="+mn-ea"/>
              </a:rPr>
              <a:t>因此指令能正确地读取至指令寄存器</a:t>
            </a:r>
            <a:r>
              <a:rPr lang="en-US" altLang="zh-CN">
                <a:sym typeface="+mn-ea"/>
              </a:rPr>
              <a:t>IR</a:t>
            </a:r>
            <a:endParaRPr lang="en-US" altLang="zh-CN">
              <a:sym typeface="+mn-ea"/>
            </a:endParaRPr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commondata" val="eyJoZGlkIjoiMjQ5YTAxODNmMDZjZGU4MzhkYzRiYjVjZDQ4MDY5Nm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WPS 演示</Application>
  <PresentationFormat>宽屏</PresentationFormat>
  <Paragraphs>30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MiSans Normal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冯璨</cp:lastModifiedBy>
  <cp:revision>155</cp:revision>
  <dcterms:created xsi:type="dcterms:W3CDTF">2019-06-19T02:08:00Z</dcterms:created>
  <dcterms:modified xsi:type="dcterms:W3CDTF">2025-12-09T08:55:56Z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ICV">
    <vt:lpwstr>CB5EB42EDEF04226BF854595CF54A849_11</vt:lpwstr>
  </property>
</Properties>
</file>