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第四题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47395"/>
            <a:ext cx="10515600" cy="376555"/>
          </a:xfrm>
        </p:spPr>
        <p:txBody>
          <a:bodyPr>
            <a:normAutofit fontScale="90000"/>
          </a:bodyPr>
          <a:p>
            <a:r>
              <a:rPr lang="en-US" altLang="zh-CN" sz="3110"/>
              <a:t>1.</a:t>
            </a:r>
            <a:r>
              <a:rPr lang="zh-CN" altLang="en-US" sz="3110"/>
              <a:t>题目描述</a:t>
            </a:r>
            <a:r>
              <a:rPr lang="en-US" altLang="zh-CN" sz="3110"/>
              <a:t>&amp;</a:t>
            </a:r>
            <a:r>
              <a:rPr lang="zh-CN" altLang="en-US" sz="3110"/>
              <a:t>解题思路</a:t>
            </a:r>
            <a:endParaRPr lang="zh-CN" altLang="en-US" sz="311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12545"/>
            <a:ext cx="10515600" cy="4351338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试采用分层设计方法，设计一个能计算12位二进制数D中“1”的个数的组合逻辑电路，要求：1、画出整个电路的层次结构图；2、写出各层子电路表达式。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思路</a:t>
            </a:r>
            <a:r>
              <a:rPr lang="zh-CN" altLang="en-US" sz="2000"/>
              <a:t>：</a:t>
            </a:r>
            <a:endParaRPr lang="zh-CN" altLang="en-US" sz="2000"/>
          </a:p>
          <a:p>
            <a:r>
              <a:rPr lang="zh-CN" altLang="en-US" sz="2000"/>
              <a:t>统计</a:t>
            </a:r>
            <a:r>
              <a:rPr lang="en-US" altLang="zh-CN" sz="2000"/>
              <a:t>12</a:t>
            </a:r>
            <a:r>
              <a:rPr lang="zh-CN" altLang="en-US" sz="2000"/>
              <a:t>位二进制数</a:t>
            </a:r>
            <a:r>
              <a:rPr lang="en-US" altLang="zh-CN" sz="2000"/>
              <a:t>D</a:t>
            </a:r>
            <a:r>
              <a:rPr lang="zh-CN" altLang="en-US" sz="2000"/>
              <a:t>中</a:t>
            </a:r>
            <a:r>
              <a:rPr lang="en-US" altLang="zh-CN" sz="2000"/>
              <a:t>1</a:t>
            </a:r>
            <a:r>
              <a:rPr lang="zh-CN" altLang="en-US" sz="2000"/>
              <a:t>的个数，即将</a:t>
            </a:r>
            <a:r>
              <a:rPr lang="en-US" altLang="zh-CN" sz="2000"/>
              <a:t>12</a:t>
            </a:r>
            <a:r>
              <a:rPr lang="zh-CN" altLang="en-US" sz="2000"/>
              <a:t>位数依次相加，得到值即为</a:t>
            </a:r>
            <a:r>
              <a:rPr lang="zh-CN" altLang="en-US" sz="2000"/>
              <a:t>结果</a:t>
            </a:r>
            <a:endParaRPr lang="zh-CN" altLang="en-US" sz="2000"/>
          </a:p>
          <a:p>
            <a:r>
              <a:rPr lang="zh-CN" altLang="en-US" sz="2000"/>
              <a:t>可以将</a:t>
            </a:r>
            <a:r>
              <a:rPr lang="en-US" altLang="zh-CN" sz="2000"/>
              <a:t>12</a:t>
            </a:r>
            <a:r>
              <a:rPr lang="zh-CN" altLang="en-US" sz="2000"/>
              <a:t>位数分为</a:t>
            </a:r>
            <a:r>
              <a:rPr lang="en-US" altLang="zh-CN" sz="2000"/>
              <a:t>4</a:t>
            </a:r>
            <a:r>
              <a:rPr lang="zh-CN" altLang="en-US" sz="2000"/>
              <a:t>组，每组用一个全加器</a:t>
            </a:r>
            <a:r>
              <a:rPr lang="zh-CN" altLang="en-US" sz="2000"/>
              <a:t>求和</a:t>
            </a:r>
            <a:endParaRPr lang="zh-CN" altLang="en-US" sz="2000"/>
          </a:p>
          <a:p>
            <a:r>
              <a:rPr lang="zh-CN" altLang="en-US" sz="2000" dirty="0">
                <a:sym typeface="+mn-ea"/>
              </a:rPr>
              <a:t>后续同理将两组合并时，最多有</a:t>
            </a:r>
            <a:r>
              <a:rPr lang="en-US" altLang="zh-CN" sz="2000" dirty="0">
                <a:sym typeface="+mn-ea"/>
              </a:rPr>
              <a:t>6</a:t>
            </a:r>
            <a:r>
              <a:rPr lang="zh-CN" altLang="en-US" sz="2000" dirty="0">
                <a:sym typeface="+mn-ea"/>
              </a:rPr>
              <a:t>个“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”，因此需要有三个输出来组成二进制数表示。最终最多有</a:t>
            </a:r>
            <a:r>
              <a:rPr lang="en-US" altLang="zh-CN" sz="2000" dirty="0">
                <a:sym typeface="+mn-ea"/>
              </a:rPr>
              <a:t>12</a:t>
            </a:r>
            <a:r>
              <a:rPr lang="zh-CN" altLang="en-US" sz="2000" dirty="0">
                <a:sym typeface="+mn-ea"/>
              </a:rPr>
              <a:t>个“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“，因此最后有四个输出。</a:t>
            </a:r>
            <a:endParaRPr lang="zh-CN" altLang="en-US" sz="2000" dirty="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47395"/>
            <a:ext cx="10515600" cy="376555"/>
          </a:xfrm>
        </p:spPr>
        <p:txBody>
          <a:bodyPr>
            <a:normAutofit fontScale="90000"/>
          </a:bodyPr>
          <a:p>
            <a:r>
              <a:rPr lang="en-US" altLang="zh-CN" sz="3110"/>
              <a:t>2.</a:t>
            </a:r>
            <a:r>
              <a:rPr lang="zh-CN" altLang="en-US" sz="3110"/>
              <a:t>层次结构</a:t>
            </a:r>
            <a:r>
              <a:rPr lang="zh-CN" altLang="en-US" sz="3110"/>
              <a:t>图</a:t>
            </a:r>
            <a:endParaRPr lang="zh-CN" altLang="en-US" sz="311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1448435"/>
            <a:ext cx="6393180" cy="39611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89280" y="1322070"/>
            <a:ext cx="1540510" cy="4214495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32685" y="1556385"/>
            <a:ext cx="2376170" cy="1633220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32685" y="3529965"/>
            <a:ext cx="2376170" cy="1633220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436235" y="1556385"/>
            <a:ext cx="1379855" cy="3853180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2152650" y="1482090"/>
            <a:ext cx="5601970" cy="161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808855" y="2336800"/>
            <a:ext cx="3037840" cy="555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4808855" y="3252470"/>
            <a:ext cx="2976245" cy="1072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6816090" y="4332605"/>
            <a:ext cx="984250" cy="673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8021955" y="1482090"/>
            <a:ext cx="309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四个全加器将</a:t>
            </a:r>
            <a:r>
              <a:rPr lang="en-US" altLang="zh-CN"/>
              <a:t>12</a:t>
            </a:r>
            <a:r>
              <a:rPr lang="zh-CN" altLang="en-US"/>
              <a:t>位数分为</a:t>
            </a:r>
            <a:r>
              <a:rPr lang="en-US" altLang="zh-CN"/>
              <a:t>4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21955" y="2693670"/>
            <a:ext cx="3540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中间两个加法器，分别将</a:t>
            </a:r>
            <a:r>
              <a:rPr lang="en-US" altLang="zh-CN"/>
              <a:t>2</a:t>
            </a:r>
            <a:r>
              <a:rPr lang="zh-CN" altLang="en-US"/>
              <a:t>个两位二进制数</a:t>
            </a:r>
            <a:r>
              <a:rPr lang="zh-CN" altLang="en-US"/>
              <a:t>求和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103235" y="3972560"/>
            <a:ext cx="3250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最后一个加法器，将两个三位二进制数</a:t>
            </a:r>
            <a:r>
              <a:rPr lang="zh-CN" altLang="en-US"/>
              <a:t>求和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47395"/>
            <a:ext cx="10515600" cy="376555"/>
          </a:xfrm>
        </p:spPr>
        <p:txBody>
          <a:bodyPr>
            <a:normAutofit fontScale="90000"/>
          </a:bodyPr>
          <a:p>
            <a:r>
              <a:rPr lang="en-US" altLang="zh-CN" sz="3110"/>
              <a:t>3-1.</a:t>
            </a:r>
            <a:r>
              <a:rPr lang="zh-CN" altLang="en-US" sz="3110"/>
              <a:t>各层子电路</a:t>
            </a:r>
            <a:r>
              <a:rPr lang="zh-CN" altLang="en-US" sz="3110"/>
              <a:t>表达式</a:t>
            </a:r>
            <a:endParaRPr lang="zh-CN" altLang="en-US" sz="311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12545"/>
            <a:ext cx="10515600" cy="4351338"/>
          </a:xfrm>
        </p:spPr>
        <p:txBody>
          <a:bodyPr/>
          <a:p>
            <a:r>
              <a:rPr lang="zh-CN" altLang="en-US" sz="2000" b="1"/>
              <a:t>第一层</a:t>
            </a:r>
            <a:endParaRPr lang="zh-CN" altLang="en-US" sz="2000" b="1"/>
          </a:p>
          <a:p>
            <a:r>
              <a:rPr lang="zh-CN" altLang="en-US" sz="2000"/>
              <a:t>第一层为</a:t>
            </a:r>
            <a:r>
              <a:rPr lang="en-US" altLang="zh-CN" sz="2000"/>
              <a:t>4</a:t>
            </a:r>
            <a:r>
              <a:rPr lang="zh-CN" altLang="en-US" sz="2000"/>
              <a:t>个</a:t>
            </a:r>
            <a:r>
              <a:rPr lang="zh-CN" altLang="en-US" sz="2000"/>
              <a:t>全加器，</a:t>
            </a:r>
            <a:endParaRPr lang="zh-CN" altLang="en-US" sz="2000"/>
          </a:p>
          <a:p>
            <a:r>
              <a:rPr lang="en-US" altLang="zh-CN" sz="2000"/>
              <a:t>SUM=AB or AC or BC , CARRY=A xor B xor C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 b="1"/>
              <a:t>第二层</a:t>
            </a:r>
            <a:endParaRPr lang="zh-CN" altLang="en-US" sz="2000" b="1"/>
          </a:p>
          <a:p>
            <a:r>
              <a:rPr lang="zh-CN" altLang="en-US" sz="2000"/>
              <a:t>第二层为两位数</a:t>
            </a:r>
            <a:r>
              <a:rPr lang="en-US" altLang="zh-CN" sz="2000"/>
              <a:t>A1B1,A2B2</a:t>
            </a:r>
            <a:r>
              <a:rPr lang="zh-CN" altLang="en-US" sz="2000"/>
              <a:t>的加法器得到</a:t>
            </a:r>
            <a:r>
              <a:rPr lang="en-US" altLang="zh-CN" sz="2000"/>
              <a:t>S2,S1,S0</a:t>
            </a:r>
            <a:endParaRPr lang="en-US" altLang="zh-CN" sz="2000"/>
          </a:p>
          <a:p>
            <a:r>
              <a:rPr lang="en-US" altLang="zh-CN" sz="2000"/>
              <a:t>S0=B1 xor B2 , </a:t>
            </a:r>
            <a:r>
              <a:rPr lang="zh-CN" altLang="en-US" sz="2000"/>
              <a:t>进位</a:t>
            </a:r>
            <a:r>
              <a:rPr lang="en-US" altLang="zh-CN" sz="2000"/>
              <a:t>C1=B1 </a:t>
            </a:r>
            <a:r>
              <a:rPr lang="en-US" altLang="zh-CN" sz="2000"/>
              <a:t>and B2</a:t>
            </a:r>
            <a:endParaRPr lang="en-US" altLang="zh-CN" sz="2000"/>
          </a:p>
          <a:p>
            <a:r>
              <a:rPr lang="en-US" altLang="zh-CN" sz="2000"/>
              <a:t>S1=A1 xor A2 xor C1</a:t>
            </a:r>
            <a:endParaRPr lang="en-US" altLang="zh-CN" sz="2000"/>
          </a:p>
          <a:p>
            <a:r>
              <a:rPr lang="en-US" altLang="zh-CN" sz="2000"/>
              <a:t>S2=A1A2 or  A1C1 or A2C1</a:t>
            </a:r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47395"/>
            <a:ext cx="10515600" cy="376555"/>
          </a:xfrm>
        </p:spPr>
        <p:txBody>
          <a:bodyPr>
            <a:normAutofit fontScale="90000"/>
          </a:bodyPr>
          <a:p>
            <a:r>
              <a:rPr lang="en-US" altLang="zh-CN" sz="3110"/>
              <a:t>3-2.</a:t>
            </a:r>
            <a:r>
              <a:rPr lang="zh-CN" altLang="en-US" sz="3110"/>
              <a:t>各层子电路</a:t>
            </a:r>
            <a:r>
              <a:rPr lang="zh-CN" altLang="en-US" sz="3110"/>
              <a:t>表达式</a:t>
            </a:r>
            <a:endParaRPr lang="zh-CN" altLang="en-US" sz="311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12545"/>
            <a:ext cx="10515600" cy="4351338"/>
          </a:xfrm>
        </p:spPr>
        <p:txBody>
          <a:bodyPr/>
          <a:p>
            <a:r>
              <a:rPr lang="zh-CN" altLang="en-US" sz="2000" b="1"/>
              <a:t>第</a:t>
            </a:r>
            <a:r>
              <a:rPr lang="zh-CN" altLang="en-US" sz="2000" b="1"/>
              <a:t>三层</a:t>
            </a:r>
            <a:endParaRPr lang="zh-CN" altLang="en-US" sz="2000" b="1"/>
          </a:p>
          <a:p>
            <a:r>
              <a:rPr lang="zh-CN" altLang="en-US" sz="2000"/>
              <a:t>第三层是两个三位二进制</a:t>
            </a:r>
            <a:r>
              <a:rPr lang="en-US" altLang="zh-CN" sz="2000"/>
              <a:t>A2A1A0,B2B1B0</a:t>
            </a:r>
            <a:r>
              <a:rPr lang="zh-CN" altLang="en-US" sz="2000"/>
              <a:t>数求和的加法器（</a:t>
            </a:r>
            <a:r>
              <a:rPr lang="en-US" altLang="zh-CN" sz="2000"/>
              <a:t>S3S2S1S0</a:t>
            </a:r>
            <a:r>
              <a:rPr lang="zh-CN" altLang="en-US" sz="2000"/>
              <a:t>）</a:t>
            </a:r>
            <a:endParaRPr lang="zh-CN" altLang="en-US" sz="2000"/>
          </a:p>
          <a:p>
            <a:r>
              <a:rPr lang="zh-CN" altLang="en-US" sz="2000"/>
              <a:t>同上</a:t>
            </a:r>
            <a:endParaRPr lang="zh-CN" altLang="en-US" sz="2000"/>
          </a:p>
          <a:p>
            <a:r>
              <a:rPr lang="en-US" altLang="zh-CN" sz="2000"/>
              <a:t>S0=A0 xor B0 ,</a:t>
            </a:r>
            <a:r>
              <a:rPr lang="zh-CN" altLang="en-US" sz="2000"/>
              <a:t>进位</a:t>
            </a:r>
            <a:r>
              <a:rPr lang="en-US" altLang="zh-CN" sz="2000"/>
              <a:t> C1=A0 </a:t>
            </a:r>
            <a:r>
              <a:rPr lang="en-US" altLang="zh-CN" sz="2000"/>
              <a:t>and B0</a:t>
            </a:r>
            <a:endParaRPr lang="en-US" altLang="zh-CN" sz="2000"/>
          </a:p>
          <a:p>
            <a:r>
              <a:rPr lang="en-US" altLang="zh-CN" sz="2000"/>
              <a:t>S1=A1 xor B1 xor C1 ,</a:t>
            </a:r>
            <a:r>
              <a:rPr lang="zh-CN" altLang="en-US" sz="2000"/>
              <a:t>进位</a:t>
            </a:r>
            <a:r>
              <a:rPr lang="en-US" altLang="zh-CN" sz="2000"/>
              <a:t> C2=A1B1 or A1C1 or B1C1</a:t>
            </a:r>
            <a:endParaRPr lang="en-US" altLang="zh-CN" sz="2000"/>
          </a:p>
          <a:p>
            <a:r>
              <a:rPr lang="en-US" altLang="zh-CN" sz="2000"/>
              <a:t>S2=</a:t>
            </a:r>
            <a:r>
              <a:rPr lang="en-US" altLang="zh-CN" sz="2000">
                <a:sym typeface="+mn-ea"/>
              </a:rPr>
              <a:t>A2 xor B2 xor C2 ,</a:t>
            </a:r>
            <a:r>
              <a:rPr lang="zh-CN" altLang="en-US" sz="2000">
                <a:sym typeface="+mn-ea"/>
              </a:rPr>
              <a:t>进位</a:t>
            </a:r>
            <a:r>
              <a:rPr lang="en-US" altLang="zh-CN" sz="2000">
                <a:sym typeface="+mn-ea"/>
              </a:rPr>
              <a:t> C3=A2B2 or A2C2 or B2C2</a:t>
            </a:r>
            <a:endParaRPr lang="en-US" altLang="zh-CN" sz="2000">
              <a:sym typeface="+mn-ea"/>
            </a:endParaRPr>
          </a:p>
          <a:p>
            <a:r>
              <a:rPr lang="en-US" altLang="zh-CN" sz="2000">
                <a:sym typeface="+mn-ea"/>
              </a:rPr>
              <a:t>S3=C3</a:t>
            </a:r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Q5YTAxODNmMDZjZGU4MzhkYzRiYjVjZDQ4MDY5Nm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WPS 演示</Application>
  <PresentationFormat>宽屏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Calibri</vt:lpstr>
      <vt:lpstr>微软雅黑</vt:lpstr>
      <vt:lpstr>Cambria Math</vt:lpstr>
      <vt:lpstr>WPS</vt:lpstr>
      <vt:lpstr>PowerPoint 演示文稿</vt:lpstr>
      <vt:lpstr>PowerPoint 演示文稿</vt:lpstr>
      <vt:lpstr>1.题目描述&amp;解题思路</vt:lpstr>
      <vt:lpstr>1.题目描述&amp;解题思路</vt:lpstr>
      <vt:lpstr>3-1.各层子电路表达式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冯璨</cp:lastModifiedBy>
  <cp:revision>3</cp:revision>
  <dcterms:created xsi:type="dcterms:W3CDTF">2023-08-09T12:44:00Z</dcterms:created>
  <dcterms:modified xsi:type="dcterms:W3CDTF">2025-11-25T07:00:53Z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2052-12.1.0.17827</vt:lpwstr>
  </property>
</Properties>
</file>