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embeddedFontLst>
    <p:embeddedFont>
      <p:font typeface="Inter"/>
      <p:regular r:id="rId31"/>
      <p:bold r:id="rId32"/>
      <p:italic r:id="rId33"/>
      <p:boldItalic r:id="rId34"/>
    </p:embeddedFont>
    <p:embeddedFont>
      <p:font typeface="Fira Code"/>
      <p:regular r:id="rId35"/>
      <p:bold r:id="rId36"/>
    </p:embeddedFont>
    <p:embeddedFont>
      <p:font typeface="Inter Medium"/>
      <p:regular r:id="rId37"/>
      <p:bold r:id="rId38"/>
      <p:italic r:id="rId39"/>
      <p:boldItalic r:id="rId40"/>
    </p:embeddedFont>
    <p:embeddedFont>
      <p:font typeface="Space Grotesk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403C8C-A8C3-4401-BFFD-29BEB35DFC9C}">
  <a:tblStyle styleId="{62403C8C-A8C3-4401-BFFD-29BEB35DFC9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boldItalic.fntdata"/><Relationship Id="rId20" Type="http://schemas.openxmlformats.org/officeDocument/2006/relationships/slide" Target="slides/slide14.xml"/><Relationship Id="rId42" Type="http://schemas.openxmlformats.org/officeDocument/2006/relationships/font" Target="fonts/SpaceGrotesk-bold.fntdata"/><Relationship Id="rId41" Type="http://schemas.openxmlformats.org/officeDocument/2006/relationships/font" Target="fonts/SpaceGrotesk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35" Type="http://schemas.openxmlformats.org/officeDocument/2006/relationships/font" Target="fonts/FiraCode-regular.fntdata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regular.fntdata"/><Relationship Id="rId14" Type="http://schemas.openxmlformats.org/officeDocument/2006/relationships/slide" Target="slides/slide8.xml"/><Relationship Id="rId36" Type="http://schemas.openxmlformats.org/officeDocument/2006/relationships/font" Target="fonts/FiraCode-bold.fntdata"/><Relationship Id="rId17" Type="http://schemas.openxmlformats.org/officeDocument/2006/relationships/slide" Target="slides/slide11.xml"/><Relationship Id="rId39" Type="http://schemas.openxmlformats.org/officeDocument/2006/relationships/font" Target="fonts/InterMedium-italic.fntdata"/><Relationship Id="rId16" Type="http://schemas.openxmlformats.org/officeDocument/2006/relationships/slide" Target="slides/slide10.xml"/><Relationship Id="rId38" Type="http://schemas.openxmlformats.org/officeDocument/2006/relationships/font" Target="fonts/InterMedium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9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4.png"/><Relationship Id="rId7" Type="http://schemas.openxmlformats.org/officeDocument/2006/relationships/image" Target="../media/image17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36.png"/><Relationship Id="rId6" Type="http://schemas.openxmlformats.org/officeDocument/2006/relationships/image" Target="../media/image27.png"/><Relationship Id="rId7" Type="http://schemas.openxmlformats.org/officeDocument/2006/relationships/image" Target="../media/image25.png"/><Relationship Id="rId8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20.png"/><Relationship Id="rId6" Type="http://schemas.openxmlformats.org/officeDocument/2006/relationships/image" Target="../media/image39.png"/><Relationship Id="rId7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33.png"/><Relationship Id="rId11" Type="http://schemas.openxmlformats.org/officeDocument/2006/relationships/image" Target="../media/image42.png"/><Relationship Id="rId10" Type="http://schemas.openxmlformats.org/officeDocument/2006/relationships/image" Target="../media/image35.png"/><Relationship Id="rId12" Type="http://schemas.openxmlformats.org/officeDocument/2006/relationships/image" Target="../media/image34.png"/><Relationship Id="rId9" Type="http://schemas.openxmlformats.org/officeDocument/2006/relationships/image" Target="../media/image28.png"/><Relationship Id="rId5" Type="http://schemas.openxmlformats.org/officeDocument/2006/relationships/image" Target="../media/image32.png"/><Relationship Id="rId6" Type="http://schemas.openxmlformats.org/officeDocument/2006/relationships/image" Target="../media/image64.png"/><Relationship Id="rId7" Type="http://schemas.openxmlformats.org/officeDocument/2006/relationships/image" Target="../media/image48.png"/><Relationship Id="rId8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52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Relationship Id="rId7" Type="http://schemas.openxmlformats.org/officeDocument/2006/relationships/image" Target="../media/image6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38.png"/><Relationship Id="rId5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5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60.png"/><Relationship Id="rId5" Type="http://schemas.openxmlformats.org/officeDocument/2006/relationships/image" Target="../media/image47.png"/><Relationship Id="rId6" Type="http://schemas.openxmlformats.org/officeDocument/2006/relationships/image" Target="../media/image53.png"/><Relationship Id="rId7" Type="http://schemas.openxmlformats.org/officeDocument/2006/relationships/image" Target="../media/image49.png"/><Relationship Id="rId8" Type="http://schemas.openxmlformats.org/officeDocument/2006/relationships/image" Target="../media/image5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6.png"/><Relationship Id="rId6" Type="http://schemas.openxmlformats.org/officeDocument/2006/relationships/image" Target="../media/image41.png"/><Relationship Id="rId7" Type="http://schemas.openxmlformats.org/officeDocument/2006/relationships/image" Target="../media/image46.png"/><Relationship Id="rId8" Type="http://schemas.openxmlformats.org/officeDocument/2006/relationships/image" Target="../media/image5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59.png"/><Relationship Id="rId9" Type="http://schemas.openxmlformats.org/officeDocument/2006/relationships/image" Target="../media/image63.png"/><Relationship Id="rId5" Type="http://schemas.openxmlformats.org/officeDocument/2006/relationships/image" Target="../media/image54.png"/><Relationship Id="rId6" Type="http://schemas.openxmlformats.org/officeDocument/2006/relationships/image" Target="../media/image58.png"/><Relationship Id="rId7" Type="http://schemas.openxmlformats.org/officeDocument/2006/relationships/image" Target="../media/image65.png"/><Relationship Id="rId8" Type="http://schemas.openxmlformats.org/officeDocument/2006/relationships/image" Target="../media/image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358479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整数与浮点数的边界探索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575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2026春《计算机系统》第1次讨论课 - 选题二研究报告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00422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数据表示的陷阱、系统防御策略与赛博空间的奇思妙想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14600"/>
            <a:ext cx="5286375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14600"/>
            <a:ext cx="5286375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2905125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理论与代码验证组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45757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同学 A：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负责问题(1)的理论分析与C语言代码实操验证，整理了精度丢失与溢出的底层逻辑。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425767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同学 B：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负责问题(2)的系统级防御方案调研，从CPU指令集和编译器层面提出了改进措施。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2905125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78BFA"/>
                </a:solidFill>
                <a:latin typeface="Space Grotesk"/>
                <a:ea typeface="Space Grotesk"/>
                <a:cs typeface="Space Grotesk"/>
                <a:sym typeface="Space Grotesk"/>
              </a:rPr>
              <a:t>脑洞与统稿组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345757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同学 C：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负责问题(3)的“奇思妙想”拓展，设计并编写了“用整数数组打印一句话”的整型/字符转换代码。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24650" y="425767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同学 D：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负责统稿、制作PPT演示文稿，并在组内试讲了Little-Endian（小端序）的内存机制。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小组成员及职责分工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2225"/>
            <a:ext cx="3492549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62225"/>
            <a:ext cx="3492549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62225"/>
            <a:ext cx="3492549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757630" y="3609975"/>
            <a:ext cx="112014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第一部分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079450" y="4305300"/>
            <a:ext cx="2476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类型转换的“暗礁”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（精确、丢失、溢出、舍入）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535930" y="3609975"/>
            <a:ext cx="112014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第二部分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029200" y="4305300"/>
            <a:ext cx="2133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构筑安全防线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（CPU/OS/编译器层面）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314229" y="3609975"/>
            <a:ext cx="112014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第三部分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826549" y="4305300"/>
            <a:ext cx="2095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万物皆数的赛博重构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（奇思妙想与脑洞探索）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9051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9051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9051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讨论内容概览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4975860" y="1880294"/>
            <a:ext cx="224028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第一部分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886325" y="3499544"/>
            <a:ext cx="24193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类型转换的“暗礁”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048250" y="4482405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整数与浮点数的底层碰撞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764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859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952500" y="2692449"/>
            <a:ext cx="4905375" cy="64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整数 (Int)：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采用补码表示，侧重于绝对的精确性，但在32位下最大值仅约为 2.14 x 109。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52500" y="35750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78BFA"/>
                </a:solidFill>
                <a:latin typeface="Inter"/>
                <a:ea typeface="Inter"/>
                <a:cs typeface="Inter"/>
                <a:sym typeface="Inter"/>
              </a:rPr>
              <a:t>浮点数 (Float)：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采用 IEEE 754 标准表示（符号位 + 阶码 + 尾数），侧重于表示极大的动态范围。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52500" y="44227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核心矛盾：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将注重范围的浮点数与注重精度的整数进行强制转换时，由于底层位宽分配的差异，必定产生信息差。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353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61786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655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底层差异：Int vs IEEE 754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69294"/>
            <a:ext cx="5286375" cy="113838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571500" y="2664469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IEEE 754 单精度公式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4498181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32位 `float` 拥有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24位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有效数字（23位显式 M + 1位隐式），能够无损容纳较小的整数。</a:t>
            </a:r>
            <a:endParaRPr/>
          </a:p>
        </p:txBody>
      </p:sp>
      <p:pic>
        <p:nvPicPr>
          <p:cNvPr descr="image.png"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40706" y="3559819"/>
            <a:ext cx="2747813" cy="31923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6715125" y="25479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转换机制：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当整数的有效二进制位数小于或等于24位时，浮点数的尾数可以完全保存其所有信息。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715125" y="3395662"/>
            <a:ext cx="4905375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代码示例：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int a = 15;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float b = (float)a;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715125" y="45672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原理解析：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15 的二进制为 `1111`，仅需4位尾数，远小于24位的容量上限，因此转换是绝对精确的。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5908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43852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61010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场景一：精确转换 (Exact)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764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859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952500" y="2225724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何时发生？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当一个很大的奇数（或不能被2的幂整除的大数）转换为 `float` 时，如果有效位数超过24位，最低位将被迫丢弃。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952500" y="3378249"/>
            <a:ext cx="4905375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典型案例：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int a = 16777217;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float b = (float)a; // 变成 16777216.0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952500" y="4549824"/>
            <a:ext cx="4905375" cy="94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原因：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16777217 是 224 + 1。其二进制表示需要第25位为1，超出了单精度浮点数的尾数容量，发生默认的“向偶数舍入”。</a:t>
            </a:r>
            <a:endParaRPr/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268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4211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592687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场景二：精度丢失与舍入 (Rounding)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24187"/>
            <a:ext cx="11049000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2081212" y="4443412"/>
            <a:ext cx="802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运行结果表明，原始值 `16777217` 在经过转换后变成了 `16777216`，最低位的 `1` 被无情裁剪。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771525" y="3224212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2009775" y="3224212"/>
            <a:ext cx="2609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2^24 + 1，需要25位二进制表示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4714875" y="3224212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143625" y="3224212"/>
            <a:ext cx="762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16777217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7096125" y="3224212"/>
            <a:ext cx="1809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强制类型转换为浮点数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9001125" y="3224212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66775" y="3433762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2390775" y="3433762"/>
            <a:ext cx="13525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再转回整型验证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3838575" y="3433762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648325" y="3433762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839075" y="3433762"/>
            <a:ext cx="1447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"原始Int: %d \n"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438275" y="3643312"/>
            <a:ext cx="1638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"转换Float: %f \n"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172075" y="3643312"/>
            <a:ext cx="2800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"转回Int: %d (精度已永久丢失!)\n"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9496425" y="3643312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78BFA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0163175" y="3643312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精度丢失实机验证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571500" y="571500"/>
            <a:ext cx="5550693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场景三：数据溢出 (Overflow)</a:t>
            </a:r>
            <a:endParaRPr/>
          </a:p>
        </p:txBody>
      </p:sp>
      <p:pic>
        <p:nvPicPr>
          <p:cNvPr descr="image.png" id="207" name="Google Shape;2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952500" y="28146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降维打击：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当浮点数转换为整数时，如果浮点数的绝对值超过了整数类型所能表示的最大范围，就会发生溢出。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952500" y="366236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未定义行为 (UB)：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在C语言标准中，浮点数转整数的溢出是未定义行为。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952500" y="4510087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系统表现：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在典型的x86架构上，溢出的浮点数通常会被强制截断为 `int` 的最小值（0x80000000，即 -2147483648）。</a:t>
            </a:r>
            <a:endParaRPr/>
          </a:p>
        </p:txBody>
      </p:sp>
      <p:pic>
        <p:nvPicPr>
          <p:cNvPr descr="image.png" id="211" name="Google Shape;21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575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0522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52950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24187"/>
            <a:ext cx="110490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2476500" y="4433887"/>
            <a:ext cx="723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终端输出：</a:t>
            </a:r>
            <a:r>
              <a:rPr b="0" i="0" lang="en-US" sz="1500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强转Int后: -2147483648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。极其危险的静默错误，没有任何报错中断程序。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771525" y="3224212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2009775" y="3224212"/>
            <a:ext cx="3600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300亿，远超32位有符号int的上限(约21.4亿)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705475" y="3224212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7515225" y="3224212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3e10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8086725" y="3224212"/>
            <a:ext cx="2571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尝试将巨大的浮点数塞入整数容器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10753725" y="3224212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2295525" y="3433762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4486275" y="3433762"/>
            <a:ext cx="1638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"原始Float: %f \n"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8220075" y="3433762"/>
            <a:ext cx="1600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"强转Int后: %d \n"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771525" y="3643312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78BFA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1438275" y="3643312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溢出截断实机验证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83034"/>
            <a:ext cx="3492549" cy="5596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183034"/>
            <a:ext cx="3492549" cy="5596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183034"/>
            <a:ext cx="3492549" cy="5596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478309"/>
            <a:ext cx="2901999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1478309"/>
            <a:ext cx="2901999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1478309"/>
            <a:ext cx="2901999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794225" y="5431184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精确转换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866775" y="6088409"/>
            <a:ext cx="290199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小数据完美嵌入浮点数尾数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4572524" y="5431184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78BFA"/>
                </a:solidFill>
                <a:latin typeface="Space Grotesk"/>
                <a:ea typeface="Space Grotesk"/>
                <a:cs typeface="Space Grotesk"/>
                <a:sym typeface="Space Grotesk"/>
              </a:rPr>
              <a:t>精度丢失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4645074" y="6088409"/>
            <a:ext cx="290199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细微末节被抹平，发生舍入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8350824" y="5431184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Space Grotesk"/>
                <a:ea typeface="Space Grotesk"/>
                <a:cs typeface="Space Grotesk"/>
                <a:sym typeface="Space Grotesk"/>
              </a:rPr>
              <a:t>数据溢出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8423374" y="6088409"/>
            <a:ext cx="290199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巨量数据冲破整型容器的边界</a:t>
            </a:r>
            <a:endParaRPr/>
          </a:p>
        </p:txBody>
      </p:sp>
      <p:pic>
        <p:nvPicPr>
          <p:cNvPr descr="image.png" id="251" name="Google Shape;251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6300" y="1487834"/>
            <a:ext cx="2882949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54599" y="1487834"/>
            <a:ext cx="2882949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32899" y="1487834"/>
            <a:ext cx="2882949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571500" y="78134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三种场景的视觉隐喻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571500" y="782984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4975860" y="1880294"/>
            <a:ext cx="224028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第二部分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5181600" y="3499544"/>
            <a:ext cx="18288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构筑安全防线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4176712" y="4482405"/>
            <a:ext cx="383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从CPU、编译器到操作系统的系统级规避策略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676400" y="2600325"/>
            <a:ext cx="8839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在C/C++等底层语言中，最可怕的不是程序崩溃，而是程序静默地得出了一个错误的结果并继续执行。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4243387" y="3962400"/>
            <a:ext cx="3705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— 关于“静默截断”的系统工程师共识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57425"/>
            <a:ext cx="5381625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257425"/>
            <a:ext cx="5381625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 txBox="1"/>
          <p:nvPr/>
        </p:nvSpPr>
        <p:spPr>
          <a:xfrm>
            <a:off x="866775" y="3305175"/>
            <a:ext cx="503062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CPU 硬件层面：陷阱指令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866775" y="4000500"/>
            <a:ext cx="47910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抛弃静默：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设计强制抛出异常的指令集。例如MIPS架构中的 `add` 指令，一旦算术运算发生溢出，直接触发硬件异常（Hardware Trap），打断程序执行，而不用 `addu`。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6534150" y="3305175"/>
            <a:ext cx="503062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编译器层面：插桩验证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6534150" y="4000500"/>
            <a:ext cx="47910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自动检查：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编译器在生成机器码时，在危险指令后自动插入越界判断逻辑。在 GCC/Clang 中开启 `-ftrapv` 选项，一旦发生整数溢出，程序会立刻调用 `abort()` 终止运行。</a:t>
            </a:r>
            <a:endParaRPr/>
          </a:p>
        </p:txBody>
      </p:sp>
      <p:pic>
        <p:nvPicPr>
          <p:cNvPr descr="image.png" id="282" name="Google Shape;28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6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策略一与策略二：硬件与编译器介入</a:t>
            </a:r>
            <a:endParaRPr/>
          </a:p>
        </p:txBody>
      </p:sp>
      <p:sp>
        <p:nvSpPr>
          <p:cNvPr id="285" name="Google Shape;285;p26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0737"/>
            <a:ext cx="11049000" cy="37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7"/>
          <p:cNvSpPr txBox="1"/>
          <p:nvPr/>
        </p:nvSpPr>
        <p:spPr>
          <a:xfrm>
            <a:off x="866775" y="3138487"/>
            <a:ext cx="1098137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OS与语言运行时层面：动态扩容 (BigInt)</a:t>
            </a:r>
            <a:endParaRPr/>
          </a:p>
        </p:txBody>
      </p:sp>
      <p:sp>
        <p:nvSpPr>
          <p:cNvPr id="293" name="Google Shape;293;p27"/>
          <p:cNvSpPr txBox="1"/>
          <p:nvPr/>
        </p:nvSpPr>
        <p:spPr>
          <a:xfrm>
            <a:off x="866775" y="3833812"/>
            <a:ext cx="10458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无限精度机制：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彻底废除固定宽度的原始类型（如32位定死）。底层不区分整数长短，所有整数在堆内存中以数组形式动态分配。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866775" y="4776787"/>
            <a:ext cx="10458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现实案例：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Python 3 的处理机制。当整数超过寄存器大小时，CPython 虚拟机会自动将其转换为大数对象，因此整数永远不会溢出，但代价是计算速度明显下降。</a:t>
            </a:r>
            <a:endParaRPr/>
          </a:p>
        </p:txBody>
      </p:sp>
      <p:pic>
        <p:nvPicPr>
          <p:cNvPr descr="image.png" id="295" name="Google Shape;29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43363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7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策略三：运行时动态接管</a:t>
            </a:r>
            <a:endParaRPr/>
          </a:p>
        </p:txBody>
      </p:sp>
      <p:sp>
        <p:nvSpPr>
          <p:cNvPr id="297" name="Google Shape;297;p27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8"/>
          <p:cNvSpPr/>
          <p:nvPr/>
        </p:nvSpPr>
        <p:spPr>
          <a:xfrm>
            <a:off x="571500" y="2369939"/>
            <a:ext cx="11049000" cy="3223021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4" name="Google Shape;304;p28"/>
          <p:cNvGraphicFramePr/>
          <p:nvPr/>
        </p:nvGraphicFramePr>
        <p:xfrm>
          <a:off x="571500" y="23699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{62403C8C-A8C3-4401-BFFD-29BEB35DFC9C}</a:tableStyleId>
              </a:tblPr>
              <a:tblGrid>
                <a:gridCol w="1936400"/>
                <a:gridCol w="3886950"/>
                <a:gridCol w="2406250"/>
                <a:gridCol w="2819400"/>
              </a:tblGrid>
              <a:tr h="6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防御层面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技术实现示例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性能损耗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安全性评估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无防御 (默认)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溢出标志位(OF)，静默截断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极低 (最快)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43F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极差 (易导致严重Bug)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CPU硬件层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使用触发陷阱(Trap)的运算指令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极低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优秀 (直接硬件中断)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编译器层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编译时加入 `-ftrapv` 插桩代码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A78BF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中等 (增加指令数)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优秀 (精准报错)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语言运行时层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BigInt 动态内存扩容 (如 Python)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43F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极高 (堆内存分配)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完美 (永不溢出)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5" name="Google Shape;305;p28"/>
          <p:cNvSpPr/>
          <p:nvPr/>
        </p:nvSpPr>
        <p:spPr>
          <a:xfrm>
            <a:off x="571500" y="3050976"/>
            <a:ext cx="193640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2507902" y="3050976"/>
            <a:ext cx="38869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6394846" y="3050976"/>
            <a:ext cx="24062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8801100" y="3050976"/>
            <a:ext cx="2819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571500" y="3685282"/>
            <a:ext cx="193640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2507902" y="3685282"/>
            <a:ext cx="38869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6394846" y="3685282"/>
            <a:ext cx="24062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8801100" y="3685282"/>
            <a:ext cx="2819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571500" y="4319587"/>
            <a:ext cx="193640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2507902" y="4319587"/>
            <a:ext cx="38869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6394846" y="4319587"/>
            <a:ext cx="24062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8801100" y="4319587"/>
            <a:ext cx="2819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571500" y="4953892"/>
            <a:ext cx="193640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2507902" y="4953892"/>
            <a:ext cx="38869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6394846" y="4953892"/>
            <a:ext cx="24062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8801100" y="4953892"/>
            <a:ext cx="2819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防御策略对比分析</a:t>
            </a:r>
            <a:endParaRPr/>
          </a:p>
        </p:txBody>
      </p:sp>
      <p:sp>
        <p:nvSpPr>
          <p:cNvPr id="322" name="Google Shape;322;p28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7" name="Google Shape;3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4975860" y="1880294"/>
            <a:ext cx="224028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第三部分</a:t>
            </a:r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4724400" y="3499544"/>
            <a:ext cx="2743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万物皆数的赛博重构</a:t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4381500" y="4482405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跨界脑洞：数据的本质取决于解释的视角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0"/>
          <p:cNvSpPr txBox="1"/>
          <p:nvPr/>
        </p:nvSpPr>
        <p:spPr>
          <a:xfrm>
            <a:off x="1676400" y="2333625"/>
            <a:ext cx="8839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在冯·诺依曼架构的内存深处，没有字符，没有图片，也没有音乐，只有0和1。一段二进制的意义，完全取决于读取它的程序戴着什么样的“有色眼镜”。</a:t>
            </a:r>
            <a:endParaRPr/>
          </a:p>
        </p:txBody>
      </p:sp>
      <p:sp>
        <p:nvSpPr>
          <p:cNvPr id="337" name="Google Shape;337;p30"/>
          <p:cNvSpPr txBox="1"/>
          <p:nvPr/>
        </p:nvSpPr>
        <p:spPr>
          <a:xfrm>
            <a:off x="5148262" y="4229100"/>
            <a:ext cx="18954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— 系统的本质哲学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2" name="Google Shape;34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8875"/>
            <a:ext cx="110490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1"/>
          <p:cNvSpPr txBox="1"/>
          <p:nvPr/>
        </p:nvSpPr>
        <p:spPr>
          <a:xfrm>
            <a:off x="295275" y="3876675"/>
            <a:ext cx="116014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承载 24 个英文字母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2286000" y="4429125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字符串 "I Love Hunan University!" 包含24个字符（24字节）。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如果我们使用64位的 `long long` 整数（每个占8字节），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仅需3个看似毫无逻辑的巨大整数，就能将其完美隐藏！</a:t>
            </a:r>
            <a:endParaRPr/>
          </a:p>
        </p:txBody>
      </p:sp>
      <p:sp>
        <p:nvSpPr>
          <p:cNvPr id="346" name="Google Shape;346;p31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脑洞一：用数字“打印”表白</a:t>
            </a:r>
            <a:endParaRPr/>
          </a:p>
        </p:txBody>
      </p:sp>
      <p:sp>
        <p:nvSpPr>
          <p:cNvPr id="347" name="Google Shape;347;p31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2" name="Google Shape;35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238500"/>
            <a:ext cx="5286375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2"/>
          <p:cNvSpPr txBox="1"/>
          <p:nvPr/>
        </p:nvSpPr>
        <p:spPr>
          <a:xfrm>
            <a:off x="6534150" y="3438525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7524750" y="3438525"/>
            <a:ext cx="1371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unsigned long long</a:t>
            </a:r>
            <a:endParaRPr/>
          </a:p>
        </p:txBody>
      </p:sp>
      <p:sp>
        <p:nvSpPr>
          <p:cNvPr id="356" name="Google Shape;356;p32"/>
          <p:cNvSpPr txBox="1"/>
          <p:nvPr/>
        </p:nvSpPr>
        <p:spPr>
          <a:xfrm>
            <a:off x="6534150" y="3619500"/>
            <a:ext cx="1676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5197305370248241225ULL</a:t>
            </a:r>
            <a:endParaRPr/>
          </a:p>
        </p:txBody>
      </p:sp>
      <p:sp>
        <p:nvSpPr>
          <p:cNvPr id="357" name="Google Shape;357;p32"/>
          <p:cNvSpPr txBox="1"/>
          <p:nvPr/>
        </p:nvSpPr>
        <p:spPr>
          <a:xfrm>
            <a:off x="8362950" y="3619500"/>
            <a:ext cx="1676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7597143920619810421ULL</a:t>
            </a:r>
            <a:endParaRPr/>
          </a:p>
        </p:txBody>
      </p:sp>
      <p:sp>
        <p:nvSpPr>
          <p:cNvPr id="358" name="Google Shape;358;p32"/>
          <p:cNvSpPr txBox="1"/>
          <p:nvPr/>
        </p:nvSpPr>
        <p:spPr>
          <a:xfrm>
            <a:off x="6534150" y="3800475"/>
            <a:ext cx="1676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2412089531201242486ULL</a:t>
            </a:r>
            <a:endParaRPr/>
          </a:p>
        </p:txBody>
      </p:sp>
      <p:sp>
        <p:nvSpPr>
          <p:cNvPr id="359" name="Google Shape;359;p32"/>
          <p:cNvSpPr txBox="1"/>
          <p:nvPr/>
        </p:nvSpPr>
        <p:spPr>
          <a:xfrm>
            <a:off x="8362950" y="3800475"/>
            <a:ext cx="76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360" name="Google Shape;360;p32"/>
          <p:cNvSpPr txBox="1"/>
          <p:nvPr/>
        </p:nvSpPr>
        <p:spPr>
          <a:xfrm>
            <a:off x="8743950" y="3800475"/>
            <a:ext cx="24955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强行用字符指针去读取这块整型内存！</a:t>
            </a:r>
            <a:endParaRPr/>
          </a:p>
        </p:txBody>
      </p:sp>
      <p:sp>
        <p:nvSpPr>
          <p:cNvPr id="361" name="Google Shape;361;p32"/>
          <p:cNvSpPr txBox="1"/>
          <p:nvPr/>
        </p:nvSpPr>
        <p:spPr>
          <a:xfrm>
            <a:off x="6534150" y="3981450"/>
            <a:ext cx="304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char</a:t>
            </a:r>
            <a:endParaRPr/>
          </a:p>
        </p:txBody>
      </p:sp>
      <p:sp>
        <p:nvSpPr>
          <p:cNvPr id="362" name="Google Shape;362;p32"/>
          <p:cNvSpPr txBox="1"/>
          <p:nvPr/>
        </p:nvSpPr>
        <p:spPr>
          <a:xfrm>
            <a:off x="7524750" y="3981450"/>
            <a:ext cx="304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char</a:t>
            </a:r>
            <a:endParaRPr/>
          </a:p>
        </p:txBody>
      </p:sp>
      <p:sp>
        <p:nvSpPr>
          <p:cNvPr id="363" name="Google Shape;363;p32"/>
          <p:cNvSpPr txBox="1"/>
          <p:nvPr/>
        </p:nvSpPr>
        <p:spPr>
          <a:xfrm>
            <a:off x="9124950" y="3981450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"&gt;&gt; %s &lt;&lt;\n"</a:t>
            </a:r>
            <a:endParaRPr/>
          </a:p>
        </p:txBody>
      </p:sp>
      <p:sp>
        <p:nvSpPr>
          <p:cNvPr id="364" name="Google Shape;364;p32"/>
          <p:cNvSpPr txBox="1"/>
          <p:nvPr/>
        </p:nvSpPr>
        <p:spPr>
          <a:xfrm>
            <a:off x="10648950" y="3981450"/>
            <a:ext cx="457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78BFA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endParaRPr/>
          </a:p>
        </p:txBody>
      </p:sp>
      <p:sp>
        <p:nvSpPr>
          <p:cNvPr id="365" name="Google Shape;365;p32"/>
          <p:cNvSpPr txBox="1"/>
          <p:nvPr/>
        </p:nvSpPr>
        <p:spPr>
          <a:xfrm>
            <a:off x="11182350" y="3981450"/>
            <a:ext cx="76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366" name="Google Shape;366;p32"/>
          <p:cNvSpPr txBox="1"/>
          <p:nvPr/>
        </p:nvSpPr>
        <p:spPr>
          <a:xfrm>
            <a:off x="952500" y="22860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逆向转换：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按照现代CPU的小端序机制，将字符串分段反转，转化为16进制，再转十进制。</a:t>
            </a:r>
            <a:endParaRPr/>
          </a:p>
        </p:txBody>
      </p:sp>
      <p:sp>
        <p:nvSpPr>
          <p:cNvPr id="367" name="Google Shape;367;p32"/>
          <p:cNvSpPr txBox="1"/>
          <p:nvPr/>
        </p:nvSpPr>
        <p:spPr>
          <a:xfrm>
            <a:off x="952500" y="31337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"I Love H" → `0x482065766F4C2049` → </a:t>
            </a:r>
            <a:r>
              <a:rPr b="0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5197305370248241225</a:t>
            </a:r>
            <a:endParaRPr/>
          </a:p>
        </p:txBody>
      </p:sp>
      <p:sp>
        <p:nvSpPr>
          <p:cNvPr id="368" name="Google Shape;368;p32"/>
          <p:cNvSpPr txBox="1"/>
          <p:nvPr/>
        </p:nvSpPr>
        <p:spPr>
          <a:xfrm>
            <a:off x="952500" y="39814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"unan Uni" → `0x696E55206E616E75` → </a:t>
            </a:r>
            <a:r>
              <a:rPr b="0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7597143920619810421</a:t>
            </a:r>
            <a:endParaRPr/>
          </a:p>
        </p:txBody>
      </p:sp>
      <p:sp>
        <p:nvSpPr>
          <p:cNvPr id="369" name="Google Shape;369;p32"/>
          <p:cNvSpPr txBox="1"/>
          <p:nvPr/>
        </p:nvSpPr>
        <p:spPr>
          <a:xfrm>
            <a:off x="952500" y="48291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"versity!" → `0x2179746973726576` → </a:t>
            </a:r>
            <a:r>
              <a:rPr b="0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2412089531201242486</a:t>
            </a:r>
            <a:endParaRPr/>
          </a:p>
        </p:txBody>
      </p:sp>
      <p:pic>
        <p:nvPicPr>
          <p:cNvPr descr="image.png" id="370" name="Google Shape;37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2886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765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243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72037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2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小端序 (Little-Endian) 魔法揭秘</a:t>
            </a:r>
            <a:endParaRPr/>
          </a:p>
        </p:txBody>
      </p:sp>
      <p:sp>
        <p:nvSpPr>
          <p:cNvPr id="375" name="Google Shape;375;p32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0" name="Google Shape;38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764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859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3"/>
          <p:cNvSpPr txBox="1"/>
          <p:nvPr/>
        </p:nvSpPr>
        <p:spPr>
          <a:xfrm>
            <a:off x="952500" y="2405062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图像化执行：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把一段编译好的可执行文件（.exe / ELF）的字节码，直接当作RGB像素数组读取，程序就会变成一张“充满噪点色彩的抽象画”。</a:t>
            </a:r>
            <a:endParaRPr/>
          </a:p>
        </p:txBody>
      </p:sp>
      <p:sp>
        <p:nvSpPr>
          <p:cNvPr id="384" name="Google Shape;384;p33"/>
          <p:cNvSpPr txBox="1"/>
          <p:nvPr/>
        </p:nvSpPr>
        <p:spPr>
          <a:xfrm>
            <a:off x="952500" y="3557587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双栖文件技术：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黑客精心构造的一串二进制：用PDF阅读器打开是论文，用图片查看器打开是风景，改后缀为 `.js` 运行就是恶意脚本。</a:t>
            </a:r>
            <a:endParaRPr/>
          </a:p>
        </p:txBody>
      </p:sp>
      <p:sp>
        <p:nvSpPr>
          <p:cNvPr id="385" name="Google Shape;385;p33"/>
          <p:cNvSpPr txBox="1"/>
          <p:nvPr/>
        </p:nvSpPr>
        <p:spPr>
          <a:xfrm>
            <a:off x="952500" y="47101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启示：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数据类型只是编译器提供给我们的“温室”，真正的系统黑客能打破类型的幻觉，掌控底层的比特流。</a:t>
            </a:r>
            <a:endParaRPr/>
          </a:p>
        </p:txBody>
      </p:sp>
      <p:pic>
        <p:nvPicPr>
          <p:cNvPr descr="image.png" id="386" name="Google Shape;38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479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60045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52975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3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脑洞二：数据的“多重影分身” (Polyglot)</a:t>
            </a:r>
            <a:endParaRPr/>
          </a:p>
        </p:txBody>
      </p:sp>
      <p:sp>
        <p:nvSpPr>
          <p:cNvPr id="390" name="Google Shape;390;p33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5" name="Google Shape;39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4"/>
          <p:cNvSpPr txBox="1"/>
          <p:nvPr/>
        </p:nvSpPr>
        <p:spPr>
          <a:xfrm>
            <a:off x="295275" y="2226915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总结与交流环节</a:t>
            </a:r>
            <a:endParaRPr/>
          </a:p>
        </p:txBody>
      </p:sp>
      <p:sp>
        <p:nvSpPr>
          <p:cNvPr id="397" name="Google Shape;397;p34"/>
          <p:cNvSpPr txBox="1"/>
          <p:nvPr/>
        </p:nvSpPr>
        <p:spPr>
          <a:xfrm>
            <a:off x="571500" y="34842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感谢聆听！打破类型幻觉，深入系统底层。</a:t>
            </a:r>
            <a:endParaRPr/>
          </a:p>
        </p:txBody>
      </p:sp>
      <p:sp>
        <p:nvSpPr>
          <p:cNvPr id="398" name="Google Shape;398;p34"/>
          <p:cNvSpPr txBox="1"/>
          <p:nvPr/>
        </p:nvSpPr>
        <p:spPr>
          <a:xfrm>
            <a:off x="571500" y="413563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/>
          <p:nvPr/>
        </p:nvSpPr>
        <p:spPr>
          <a:xfrm>
            <a:off x="571500" y="151864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5"/>
          <p:cNvSpPr/>
          <p:nvPr/>
        </p:nvSpPr>
        <p:spPr>
          <a:xfrm>
            <a:off x="571500" y="250150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328627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5"/>
          <p:cNvSpPr/>
          <p:nvPr/>
        </p:nvSpPr>
        <p:spPr>
          <a:xfrm>
            <a:off x="571500" y="407104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/>
          <p:nvPr/>
        </p:nvSpPr>
        <p:spPr>
          <a:xfrm>
            <a:off x="571500" y="485581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5"/>
          <p:cNvSpPr/>
          <p:nvPr/>
        </p:nvSpPr>
        <p:spPr>
          <a:xfrm>
            <a:off x="571500" y="24919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5"/>
          <p:cNvSpPr/>
          <p:nvPr/>
        </p:nvSpPr>
        <p:spPr>
          <a:xfrm>
            <a:off x="571500" y="24919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5"/>
          <p:cNvSpPr/>
          <p:nvPr/>
        </p:nvSpPr>
        <p:spPr>
          <a:xfrm>
            <a:off x="571500" y="32767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5"/>
          <p:cNvSpPr/>
          <p:nvPr/>
        </p:nvSpPr>
        <p:spPr>
          <a:xfrm>
            <a:off x="571500" y="32767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571500" y="406151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571500" y="406151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571500" y="48462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5"/>
          <p:cNvSpPr/>
          <p:nvPr/>
        </p:nvSpPr>
        <p:spPr>
          <a:xfrm>
            <a:off x="571500" y="48462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5"/>
          <p:cNvSpPr/>
          <p:nvPr/>
        </p:nvSpPr>
        <p:spPr>
          <a:xfrm>
            <a:off x="571500" y="56310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5"/>
          <p:cNvSpPr/>
          <p:nvPr/>
        </p:nvSpPr>
        <p:spPr>
          <a:xfrm>
            <a:off x="571500" y="56310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19" name="Google Shape;41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71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5"/>
          <p:cNvSpPr txBox="1"/>
          <p:nvPr/>
        </p:nvSpPr>
        <p:spPr>
          <a:xfrm>
            <a:off x="1666875" y="166151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https://png.pngtree.com/thumb_back/fh260/background/20260205/pngtree-futuristic-glowing-microprocessor-on-circuit-board-with-neon-lighting-image_21314073.webp</a:t>
            </a:r>
            <a:endParaRPr/>
          </a:p>
        </p:txBody>
      </p:sp>
      <p:sp>
        <p:nvSpPr>
          <p:cNvPr id="421" name="Google Shape;421;p35"/>
          <p:cNvSpPr txBox="1"/>
          <p:nvPr/>
        </p:nvSpPr>
        <p:spPr>
          <a:xfrm>
            <a:off x="1666875" y="210532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422" name="Google Shape;42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509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5"/>
          <p:cNvSpPr txBox="1"/>
          <p:nvPr/>
        </p:nvSpPr>
        <p:spPr>
          <a:xfrm>
            <a:off x="1666875" y="264437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https://quantummechanicsstreet.com/wp-content/uploads/2025/10/Quantum-Entanglement-Explained_-How-Particles-Stay-Connected-Across-Space-scaled.jpg</a:t>
            </a:r>
            <a:endParaRPr/>
          </a:p>
        </p:txBody>
      </p:sp>
      <p:sp>
        <p:nvSpPr>
          <p:cNvPr id="424" name="Google Shape;424;p35"/>
          <p:cNvSpPr txBox="1"/>
          <p:nvPr/>
        </p:nvSpPr>
        <p:spPr>
          <a:xfrm>
            <a:off x="1666875" y="289009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quantummechanicsstreet.com</a:t>
            </a:r>
            <a:endParaRPr/>
          </a:p>
        </p:txBody>
      </p:sp>
      <p:pic>
        <p:nvPicPr>
          <p:cNvPr descr="image.png" id="425" name="Google Shape;425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3569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5"/>
          <p:cNvSpPr txBox="1"/>
          <p:nvPr/>
        </p:nvSpPr>
        <p:spPr>
          <a:xfrm>
            <a:off x="1666875" y="342914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https://cdn.prod.website-files.com/67f545ca0d8f3520ea978b6a/69b56a825c38ffa8c306213e_602.webp</a:t>
            </a:r>
            <a:endParaRPr/>
          </a:p>
        </p:txBody>
      </p:sp>
      <p:sp>
        <p:nvSpPr>
          <p:cNvPr id="427" name="Google Shape;427;p35"/>
          <p:cNvSpPr txBox="1"/>
          <p:nvPr/>
        </p:nvSpPr>
        <p:spPr>
          <a:xfrm>
            <a:off x="1666875" y="367486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www.graphic-archive.com</a:t>
            </a:r>
            <a:endParaRPr/>
          </a:p>
        </p:txBody>
      </p:sp>
      <p:pic>
        <p:nvPicPr>
          <p:cNvPr descr="image.png" id="428" name="Google Shape;428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204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5"/>
          <p:cNvSpPr txBox="1"/>
          <p:nvPr/>
        </p:nvSpPr>
        <p:spPr>
          <a:xfrm>
            <a:off x="1666875" y="421391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https://queue-fair.com/assets/img/scalable-website-architecture.webp</a:t>
            </a:r>
            <a:endParaRPr/>
          </a:p>
        </p:txBody>
      </p:sp>
      <p:sp>
        <p:nvSpPr>
          <p:cNvPr id="430" name="Google Shape;430;p35"/>
          <p:cNvSpPr txBox="1"/>
          <p:nvPr/>
        </p:nvSpPr>
        <p:spPr>
          <a:xfrm>
            <a:off x="1666875" y="445963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queue-fair.com</a:t>
            </a:r>
            <a:endParaRPr/>
          </a:p>
        </p:txBody>
      </p:sp>
      <p:pic>
        <p:nvPicPr>
          <p:cNvPr descr="image.png" id="431" name="Google Shape;431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0052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5"/>
          <p:cNvSpPr txBox="1"/>
          <p:nvPr/>
        </p:nvSpPr>
        <p:spPr>
          <a:xfrm>
            <a:off x="1666875" y="499869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https://assets.isu.pub/document-structure/240304181250-9b030cf8b8c9e20dcee029c1f47cd629/v1/f5ea6804bcf84d840f72fc868a1ddffd.jpeg</a:t>
            </a:r>
            <a:endParaRPr/>
          </a:p>
        </p:txBody>
      </p:sp>
      <p:sp>
        <p:nvSpPr>
          <p:cNvPr id="433" name="Google Shape;433;p35"/>
          <p:cNvSpPr txBox="1"/>
          <p:nvPr/>
        </p:nvSpPr>
        <p:spPr>
          <a:xfrm>
            <a:off x="1666875" y="52444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issuu.com</a:t>
            </a:r>
            <a:endParaRPr/>
          </a:p>
        </p:txBody>
      </p:sp>
      <p:pic>
        <p:nvPicPr>
          <p:cNvPr descr="image.png" id="434" name="Google Shape;434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7900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 txBox="1"/>
          <p:nvPr/>
        </p:nvSpPr>
        <p:spPr>
          <a:xfrm>
            <a:off x="1666875" y="578346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https://static-assets.artlogic.net/w_600,h_460,c_limit/exhibit-e/59495fb4dca8372462d444a8/a01375d5e43c212297d5b42ea0df4a11.png</a:t>
            </a:r>
            <a:endParaRPr/>
          </a:p>
        </p:txBody>
      </p:sp>
      <p:sp>
        <p:nvSpPr>
          <p:cNvPr id="436" name="Google Shape;436;p35"/>
          <p:cNvSpPr txBox="1"/>
          <p:nvPr/>
        </p:nvSpPr>
        <p:spPr>
          <a:xfrm>
            <a:off x="1666875" y="60291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www.hemphillartworks.com</a:t>
            </a:r>
            <a:endParaRPr/>
          </a:p>
        </p:txBody>
      </p:sp>
      <p:sp>
        <p:nvSpPr>
          <p:cNvPr id="437" name="Google Shape;437;p35"/>
          <p:cNvSpPr txBox="1"/>
          <p:nvPr/>
        </p:nvSpPr>
        <p:spPr>
          <a:xfrm>
            <a:off x="571500" y="442317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438" name="Google Shape;438;p35"/>
          <p:cNvSpPr/>
          <p:nvPr/>
        </p:nvSpPr>
        <p:spPr>
          <a:xfrm>
            <a:off x="571500" y="1118592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3" name="Google Shape;44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4" name="Google Shape;44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3550" y="37288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6"/>
          <p:cNvSpPr txBox="1"/>
          <p:nvPr/>
        </p:nvSpPr>
        <p:spPr>
          <a:xfrm>
            <a:off x="2828925" y="3722340"/>
            <a:ext cx="76295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https://media.easy-peasy.ai/27feb2bb-aeb4-4a83-9fb6-8f3f2a15885e/be3d06f1-2d8d-4ea8-bacc-9b0073aeceb3_medium.webp</a:t>
            </a:r>
            <a:endParaRPr/>
          </a:p>
        </p:txBody>
      </p:sp>
      <p:sp>
        <p:nvSpPr>
          <p:cNvPr id="446" name="Google Shape;446;p36"/>
          <p:cNvSpPr txBox="1"/>
          <p:nvPr/>
        </p:nvSpPr>
        <p:spPr>
          <a:xfrm>
            <a:off x="2828925" y="3968055"/>
            <a:ext cx="7629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easy-peasy.ai</a:t>
            </a:r>
            <a:endParaRPr/>
          </a:p>
        </p:txBody>
      </p:sp>
      <p:sp>
        <p:nvSpPr>
          <p:cNvPr id="447" name="Google Shape;447;p36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448" name="Google Shape;448;p36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