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94" r:id="rId3"/>
    <p:sldId id="351" r:id="rId4"/>
    <p:sldId id="258" r:id="rId5"/>
    <p:sldId id="259" r:id="rId7"/>
    <p:sldId id="419" r:id="rId8"/>
    <p:sldId id="398" r:id="rId9"/>
    <p:sldId id="420" r:id="rId10"/>
    <p:sldId id="421" r:id="rId11"/>
    <p:sldId id="293" r:id="rId12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楷体" panose="02010609060101010101" pitchFamily="49" charset="-122"/>
      <p:regular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方正清刻本悦宋简体" panose="02000000000000000000" charset="-122"/>
      <p:regular r:id="rId22"/>
    </p:embeddedFont>
    <p:embeddedFont>
      <p:font typeface="等线 Light" panose="02010600030101010101" charset="-122"/>
      <p:regular r:id="rId23"/>
    </p:embeddedFont>
    <p:embeddedFont>
      <p:font typeface="等线" panose="02010600030101010101" charset="-122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3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clrMru>
    <a:srgbClr val="9C1E22"/>
    <a:srgbClr val="576271"/>
    <a:srgbClr val="095286"/>
    <a:srgbClr val="960000"/>
    <a:srgbClr val="EF3030"/>
    <a:srgbClr val="F4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9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108" y="54"/>
      </p:cViewPr>
      <p:guideLst>
        <p:guide orient="horz" pos="563"/>
        <p:guide pos="29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1.xml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F282C-F96F-4901-B430-85376D98F0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2CA30-E27C-4950-A4CF-8DA67250FED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904" t="1737" r="46656" b="85071"/>
          <a:stretch>
            <a:fillRect/>
          </a:stretch>
        </p:blipFill>
        <p:spPr>
          <a:xfrm>
            <a:off x="10813875" y="81551"/>
            <a:ext cx="903266" cy="7766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CAB2F-4E2C-45BA-BCE1-0CC571ED26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8FA17-9A60-45DE-8F89-6A54CE928F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1" Type="http://schemas.openxmlformats.org/officeDocument/2006/relationships/slideLayout" Target="../slideLayouts/slideLayout1.xml"/><Relationship Id="rId20" Type="http://schemas.openxmlformats.org/officeDocument/2006/relationships/themeOverride" Target="../theme/themeOverride2.xml"/><Relationship Id="rId2" Type="http://schemas.openxmlformats.org/officeDocument/2006/relationships/image" Target="../media/image6.png"/><Relationship Id="rId19" Type="http://schemas.openxmlformats.org/officeDocument/2006/relationships/image" Target="../media/image5.png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3.xml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hemeOverride" Target="../theme/themeOverride4.xml"/><Relationship Id="rId4" Type="http://schemas.openxmlformats.org/officeDocument/2006/relationships/image" Target="../media/image5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hemeOverride" Target="../theme/themeOverride5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tags" Target="../tags/tag19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6.xml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7.xml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8.xml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hemeOverride" Target="../theme/themeOverride9.xml"/><Relationship Id="rId5" Type="http://schemas.openxmlformats.org/officeDocument/2006/relationships/image" Target="../media/image5.png"/><Relationship Id="rId4" Type="http://schemas.openxmlformats.org/officeDocument/2006/relationships/image" Target="../media/image11.png"/><Relationship Id="rId3" Type="http://schemas.openxmlformats.org/officeDocument/2006/relationships/tags" Target="../tags/tag20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资源 2@4x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4860" y="838200"/>
            <a:ext cx="10622280" cy="4173855"/>
          </a:xfrm>
          <a:prstGeom prst="rect">
            <a:avLst/>
          </a:prstGeom>
          <a:effectLst>
            <a:reflection stA="50000" endA="275" endPos="39000" dir="5400000" sy="-100000" algn="bl" rotWithShape="0"/>
          </a:effectLst>
        </p:spPr>
      </p:pic>
      <p:pic>
        <p:nvPicPr>
          <p:cNvPr id="13" name="图片 12" descr="资源 1@4x"/>
          <p:cNvPicPr>
            <a:picLocks noChangeAspect="1"/>
          </p:cNvPicPr>
          <p:nvPr/>
        </p:nvPicPr>
        <p:blipFill>
          <a:blip r:embed="rId3"/>
          <a:srcRect t="-7674" r="52556"/>
          <a:stretch>
            <a:fillRect/>
          </a:stretch>
        </p:blipFill>
        <p:spPr>
          <a:xfrm>
            <a:off x="4813300" y="6059805"/>
            <a:ext cx="1537970" cy="5791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84860" y="1136015"/>
            <a:ext cx="738695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>
                <a:solidFill>
                  <a:srgbClr val="960000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整数与浮点数</a:t>
            </a:r>
            <a:endParaRPr lang="zh-CN" altLang="en-US" sz="6600">
              <a:solidFill>
                <a:schemeClr val="tx1">
                  <a:lumMod val="85000"/>
                  <a:lumOff val="1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  <a:p>
            <a:endParaRPr lang="zh-CN" altLang="en-US" sz="6600">
              <a:solidFill>
                <a:schemeClr val="tx2">
                  <a:lumMod val="7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22" name="Shape 2608"/>
          <p:cNvSpPr/>
          <p:nvPr/>
        </p:nvSpPr>
        <p:spPr>
          <a:xfrm>
            <a:off x="1054735" y="3836670"/>
            <a:ext cx="222250" cy="1816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lIns="19045" tIns="19045" rIns="19045" bIns="19045" anchor="ctr"/>
          <a:p>
            <a:pPr defTabSz="2286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Century Gothic" panose="020B0502020202020204" pitchFamily="34" charset="0"/>
              <a:ea typeface="Gill Sans"/>
              <a:cs typeface="Gill Sans"/>
              <a:sym typeface="Gill San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9860" y="3786505"/>
            <a:ext cx="339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计算机系统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第一次小班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第二题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资源 6@4x"/>
          <p:cNvPicPr>
            <a:picLocks noChangeAspect="1"/>
          </p:cNvPicPr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>
            <a:off x="329565" y="2386965"/>
            <a:ext cx="11532235" cy="4498340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3"/>
            </p:custDataLst>
          </p:nvPr>
        </p:nvGrpSpPr>
        <p:grpSpPr>
          <a:xfrm>
            <a:off x="1529192" y="1510486"/>
            <a:ext cx="3926962" cy="1099306"/>
            <a:chOff x="1976" y="2379"/>
            <a:chExt cx="8070" cy="2259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976" y="2379"/>
              <a:ext cx="1440" cy="1371"/>
            </a:xfrm>
            <a:custGeom>
              <a:avLst/>
              <a:gdLst>
                <a:gd name="connsiteX0" fmla="*/ 398542 w 914402"/>
                <a:gd name="connsiteY0" fmla="*/ 0 h 870857"/>
                <a:gd name="connsiteX1" fmla="*/ 914402 w 914402"/>
                <a:gd name="connsiteY1" fmla="*/ 0 h 870857"/>
                <a:gd name="connsiteX2" fmla="*/ 914402 w 914402"/>
                <a:gd name="connsiteY2" fmla="*/ 870857 h 870857"/>
                <a:gd name="connsiteX3" fmla="*/ 0 w 914402"/>
                <a:gd name="connsiteY3" fmla="*/ 870857 h 870857"/>
                <a:gd name="connsiteX4" fmla="*/ 0 w 914402"/>
                <a:gd name="connsiteY4" fmla="*/ 398542 h 870857"/>
                <a:gd name="connsiteX5" fmla="*/ 398542 w 914402"/>
                <a:gd name="connsiteY5" fmla="*/ 0 h 87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402" h="870857">
                  <a:moveTo>
                    <a:pt x="398542" y="0"/>
                  </a:moveTo>
                  <a:lnTo>
                    <a:pt x="914402" y="0"/>
                  </a:lnTo>
                  <a:lnTo>
                    <a:pt x="914402" y="870857"/>
                  </a:lnTo>
                  <a:lnTo>
                    <a:pt x="0" y="870857"/>
                  </a:lnTo>
                  <a:lnTo>
                    <a:pt x="0" y="398542"/>
                  </a:lnTo>
                  <a:cubicBezTo>
                    <a:pt x="0" y="178433"/>
                    <a:pt x="178433" y="0"/>
                    <a:pt x="398542" y="0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>
                  <a:solidFill>
                    <a:prstClr val="white"/>
                  </a:solidFill>
                  <a:latin typeface="Century Gothic" panose="020B0502020202020204" pitchFamily="34" charset="0"/>
                </a:rPr>
                <a:t>01</a:t>
              </a:r>
              <a:endParaRPr lang="zh-CN" altLang="en-US" sz="280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3635" y="2624"/>
              <a:ext cx="6411" cy="104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</a:rPr>
                <a:t>整型与浮点型</a:t>
              </a:r>
              <a:r>
                <a:rPr lang="zh-CN" altLang="en-US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</a:rPr>
                <a:t>转换</a:t>
              </a:r>
              <a:endParaRPr lang="zh-CN" altLang="en-US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6"/>
              </p:custDataLst>
            </p:nvPr>
          </p:nvSpPr>
          <p:spPr>
            <a:xfrm>
              <a:off x="2206" y="3958"/>
              <a:ext cx="6409" cy="68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130000"/>
                </a:lnSpc>
              </a:pPr>
              <a:r>
                <a:rPr lang="zh-CN" altLang="en-US" sz="1200" spc="300">
                  <a:solidFill>
                    <a:schemeClr val="bg1">
                      <a:lumMod val="6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精确转换、丢失、溢出、</a:t>
              </a:r>
              <a:r>
                <a:rPr lang="zh-CN" altLang="en-US" sz="1200" spc="300">
                  <a:solidFill>
                    <a:schemeClr val="bg1">
                      <a:lumMod val="6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舍入</a:t>
              </a:r>
              <a:endParaRPr lang="zh-CN" altLang="en-US" sz="1200" spc="30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7"/>
            </p:custDataLst>
          </p:nvPr>
        </p:nvGrpSpPr>
        <p:grpSpPr>
          <a:xfrm>
            <a:off x="6615632" y="1570164"/>
            <a:ext cx="3338510" cy="1387503"/>
            <a:chOff x="9186" y="2441"/>
            <a:chExt cx="6458" cy="2683"/>
          </a:xfrm>
        </p:grpSpPr>
        <p:sp>
          <p:nvSpPr>
            <p:cNvPr id="7" name="任意多边形 6"/>
            <p:cNvSpPr/>
            <p:nvPr>
              <p:custDataLst>
                <p:tags r:id="rId8"/>
              </p:custDataLst>
            </p:nvPr>
          </p:nvSpPr>
          <p:spPr>
            <a:xfrm>
              <a:off x="9186" y="2441"/>
              <a:ext cx="1440" cy="1371"/>
            </a:xfrm>
            <a:custGeom>
              <a:avLst/>
              <a:gdLst>
                <a:gd name="connsiteX0" fmla="*/ 398542 w 914402"/>
                <a:gd name="connsiteY0" fmla="*/ 0 h 870857"/>
                <a:gd name="connsiteX1" fmla="*/ 914402 w 914402"/>
                <a:gd name="connsiteY1" fmla="*/ 0 h 870857"/>
                <a:gd name="connsiteX2" fmla="*/ 914402 w 914402"/>
                <a:gd name="connsiteY2" fmla="*/ 870857 h 870857"/>
                <a:gd name="connsiteX3" fmla="*/ 0 w 914402"/>
                <a:gd name="connsiteY3" fmla="*/ 870857 h 870857"/>
                <a:gd name="connsiteX4" fmla="*/ 0 w 914402"/>
                <a:gd name="connsiteY4" fmla="*/ 398542 h 870857"/>
                <a:gd name="connsiteX5" fmla="*/ 398542 w 914402"/>
                <a:gd name="connsiteY5" fmla="*/ 0 h 87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402" h="870857">
                  <a:moveTo>
                    <a:pt x="398542" y="0"/>
                  </a:moveTo>
                  <a:lnTo>
                    <a:pt x="914402" y="0"/>
                  </a:lnTo>
                  <a:lnTo>
                    <a:pt x="914402" y="870857"/>
                  </a:lnTo>
                  <a:lnTo>
                    <a:pt x="0" y="870857"/>
                  </a:lnTo>
                  <a:lnTo>
                    <a:pt x="0" y="398542"/>
                  </a:lnTo>
                  <a:cubicBezTo>
                    <a:pt x="0" y="178433"/>
                    <a:pt x="178433" y="0"/>
                    <a:pt x="398542" y="0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>
                  <a:solidFill>
                    <a:prstClr val="white"/>
                  </a:solidFill>
                  <a:latin typeface="Century Gothic" panose="020B0502020202020204" pitchFamily="34" charset="0"/>
                </a:rPr>
                <a:t>02</a:t>
              </a:r>
              <a:endParaRPr lang="zh-CN" altLang="en-US" sz="280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9"/>
              </p:custDataLst>
            </p:nvPr>
          </p:nvSpPr>
          <p:spPr>
            <a:xfrm>
              <a:off x="10917" y="2667"/>
              <a:ext cx="3752" cy="98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</a:rPr>
                <a:t>添加您的标题</a:t>
              </a:r>
              <a:endParaRPr lang="en-US" altLang="zh-CN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0"/>
              </p:custDataLst>
            </p:nvPr>
          </p:nvSpPr>
          <p:spPr>
            <a:xfrm>
              <a:off x="9235" y="4020"/>
              <a:ext cx="6409" cy="110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130000"/>
                </a:lnSpc>
              </a:pPr>
              <a:r>
                <a:rPr lang="zh-CN" altLang="en-US" sz="1200" spc="300">
                  <a:solidFill>
                    <a:schemeClr val="bg1">
                      <a:lumMod val="6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由在此输入详细介绍，以表达项目工作的详细资料和文字信息。</a:t>
              </a:r>
              <a:endParaRPr lang="en-US" altLang="zh-CN" sz="1000" spc="300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1"/>
            </p:custDataLst>
          </p:nvPr>
        </p:nvGrpSpPr>
        <p:grpSpPr>
          <a:xfrm>
            <a:off x="1409700" y="3476100"/>
            <a:ext cx="3277746" cy="1548378"/>
            <a:chOff x="1900" y="5573"/>
            <a:chExt cx="6409" cy="3028"/>
          </a:xfrm>
        </p:grpSpPr>
        <p:sp>
          <p:nvSpPr>
            <p:cNvPr id="16" name="任意多边形 15"/>
            <p:cNvSpPr/>
            <p:nvPr>
              <p:custDataLst>
                <p:tags r:id="rId12"/>
              </p:custDataLst>
            </p:nvPr>
          </p:nvSpPr>
          <p:spPr>
            <a:xfrm>
              <a:off x="1900" y="5573"/>
              <a:ext cx="1440" cy="1371"/>
            </a:xfrm>
            <a:custGeom>
              <a:avLst/>
              <a:gdLst>
                <a:gd name="connsiteX0" fmla="*/ 398542 w 914402"/>
                <a:gd name="connsiteY0" fmla="*/ 0 h 870857"/>
                <a:gd name="connsiteX1" fmla="*/ 914402 w 914402"/>
                <a:gd name="connsiteY1" fmla="*/ 0 h 870857"/>
                <a:gd name="connsiteX2" fmla="*/ 914402 w 914402"/>
                <a:gd name="connsiteY2" fmla="*/ 870857 h 870857"/>
                <a:gd name="connsiteX3" fmla="*/ 0 w 914402"/>
                <a:gd name="connsiteY3" fmla="*/ 870857 h 870857"/>
                <a:gd name="connsiteX4" fmla="*/ 0 w 914402"/>
                <a:gd name="connsiteY4" fmla="*/ 398542 h 870857"/>
                <a:gd name="connsiteX5" fmla="*/ 398542 w 914402"/>
                <a:gd name="connsiteY5" fmla="*/ 0 h 87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402" h="870857">
                  <a:moveTo>
                    <a:pt x="398542" y="0"/>
                  </a:moveTo>
                  <a:lnTo>
                    <a:pt x="914402" y="0"/>
                  </a:lnTo>
                  <a:lnTo>
                    <a:pt x="914402" y="870857"/>
                  </a:lnTo>
                  <a:lnTo>
                    <a:pt x="0" y="870857"/>
                  </a:lnTo>
                  <a:lnTo>
                    <a:pt x="0" y="398542"/>
                  </a:lnTo>
                  <a:cubicBezTo>
                    <a:pt x="0" y="178433"/>
                    <a:pt x="178433" y="0"/>
                    <a:pt x="398542" y="0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Century Gothic" panose="020B0502020202020204" pitchFamily="34" charset="0"/>
                </a:rPr>
                <a:t>03</a:t>
              </a:r>
              <a:endParaRPr lang="zh-CN" altLang="en-US" sz="280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13"/>
              </p:custDataLst>
            </p:nvPr>
          </p:nvSpPr>
          <p:spPr>
            <a:xfrm>
              <a:off x="3714" y="5670"/>
              <a:ext cx="3752" cy="99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</a:rPr>
                <a:t>添加您的标题</a:t>
              </a:r>
              <a:endParaRPr lang="en-US" altLang="zh-CN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14"/>
              </p:custDataLst>
            </p:nvPr>
          </p:nvSpPr>
          <p:spPr>
            <a:xfrm>
              <a:off x="1900" y="7485"/>
              <a:ext cx="6409" cy="11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130000"/>
                </a:lnSpc>
              </a:pPr>
              <a:r>
                <a:rPr lang="zh-CN" altLang="en-US" sz="1200" spc="300">
                  <a:solidFill>
                    <a:schemeClr val="bg1">
                      <a:lumMod val="6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由在此输入详细介绍，以表达项目工作的详细资料和文字信息。</a:t>
              </a:r>
              <a:endParaRPr lang="en-US" altLang="zh-CN" sz="1000" spc="300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5"/>
            </p:custDataLst>
          </p:nvPr>
        </p:nvGrpSpPr>
        <p:grpSpPr>
          <a:xfrm>
            <a:off x="6477000" y="3354705"/>
            <a:ext cx="3234515" cy="1600804"/>
            <a:chOff x="8920" y="5474"/>
            <a:chExt cx="6409" cy="3172"/>
          </a:xfrm>
        </p:grpSpPr>
        <p:sp>
          <p:nvSpPr>
            <p:cNvPr id="27" name="任意多边形 26"/>
            <p:cNvSpPr/>
            <p:nvPr>
              <p:custDataLst>
                <p:tags r:id="rId16"/>
              </p:custDataLst>
            </p:nvPr>
          </p:nvSpPr>
          <p:spPr>
            <a:xfrm>
              <a:off x="9186" y="5474"/>
              <a:ext cx="1440" cy="1371"/>
            </a:xfrm>
            <a:custGeom>
              <a:avLst/>
              <a:gdLst>
                <a:gd name="connsiteX0" fmla="*/ 398542 w 914402"/>
                <a:gd name="connsiteY0" fmla="*/ 0 h 870857"/>
                <a:gd name="connsiteX1" fmla="*/ 914402 w 914402"/>
                <a:gd name="connsiteY1" fmla="*/ 0 h 870857"/>
                <a:gd name="connsiteX2" fmla="*/ 914402 w 914402"/>
                <a:gd name="connsiteY2" fmla="*/ 870857 h 870857"/>
                <a:gd name="connsiteX3" fmla="*/ 0 w 914402"/>
                <a:gd name="connsiteY3" fmla="*/ 870857 h 870857"/>
                <a:gd name="connsiteX4" fmla="*/ 0 w 914402"/>
                <a:gd name="connsiteY4" fmla="*/ 398542 h 870857"/>
                <a:gd name="connsiteX5" fmla="*/ 398542 w 914402"/>
                <a:gd name="connsiteY5" fmla="*/ 0 h 87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402" h="870857">
                  <a:moveTo>
                    <a:pt x="398542" y="0"/>
                  </a:moveTo>
                  <a:lnTo>
                    <a:pt x="914402" y="0"/>
                  </a:lnTo>
                  <a:lnTo>
                    <a:pt x="914402" y="870857"/>
                  </a:lnTo>
                  <a:lnTo>
                    <a:pt x="0" y="870857"/>
                  </a:lnTo>
                  <a:lnTo>
                    <a:pt x="0" y="398542"/>
                  </a:lnTo>
                  <a:cubicBezTo>
                    <a:pt x="0" y="178433"/>
                    <a:pt x="178433" y="0"/>
                    <a:pt x="398542" y="0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>
                  <a:solidFill>
                    <a:prstClr val="white"/>
                  </a:solidFill>
                  <a:latin typeface="Century Gothic" panose="020B0502020202020204" pitchFamily="34" charset="0"/>
                </a:rPr>
                <a:t>04</a:t>
              </a:r>
              <a:endParaRPr lang="zh-CN" altLang="en-US" sz="280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17"/>
              </p:custDataLst>
            </p:nvPr>
          </p:nvSpPr>
          <p:spPr>
            <a:xfrm>
              <a:off x="10924" y="5700"/>
              <a:ext cx="3752" cy="100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b="1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</a:rPr>
                <a:t>添加您的标题</a:t>
              </a:r>
              <a:endParaRPr lang="en-US" altLang="zh-CN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8"/>
              </p:custDataLst>
            </p:nvPr>
          </p:nvSpPr>
          <p:spPr>
            <a:xfrm>
              <a:off x="8920" y="7515"/>
              <a:ext cx="6409" cy="11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130000"/>
                </a:lnSpc>
              </a:pPr>
              <a:r>
                <a:rPr lang="zh-CN" altLang="en-US" sz="1200" spc="300">
                  <a:solidFill>
                    <a:schemeClr val="bg1">
                      <a:lumMod val="6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由在此输入详细介绍，以表达项目工作的详细资料和文字信息。</a:t>
              </a:r>
              <a:endParaRPr lang="en-US" altLang="zh-CN" sz="1000" spc="300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4906010" y="510540"/>
            <a:ext cx="24542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rgbClr val="57627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目录</a:t>
            </a:r>
            <a:endParaRPr lang="zh-CN" altLang="en-US" sz="4400">
              <a:solidFill>
                <a:srgbClr val="57627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13" name="图片 12" descr="资源 1@4x"/>
          <p:cNvPicPr>
            <a:picLocks noChangeAspect="1"/>
          </p:cNvPicPr>
          <p:nvPr/>
        </p:nvPicPr>
        <p:blipFill>
          <a:blip r:embed="rId19"/>
          <a:srcRect t="-7674" r="52556"/>
          <a:stretch>
            <a:fillRect/>
          </a:stretch>
        </p:blipFill>
        <p:spPr>
          <a:xfrm>
            <a:off x="4813300" y="6059805"/>
            <a:ext cx="1537970" cy="57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5@4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520" y="1616075"/>
            <a:ext cx="12550140" cy="532257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276192" y="1588412"/>
            <a:ext cx="9356975" cy="1660786"/>
            <a:chOff x="4979" y="4476"/>
            <a:chExt cx="10155" cy="1562"/>
          </a:xfrm>
        </p:grpSpPr>
        <p:sp>
          <p:nvSpPr>
            <p:cNvPr id="9" name="矩形 8"/>
            <p:cNvSpPr/>
            <p:nvPr/>
          </p:nvSpPr>
          <p:spPr>
            <a:xfrm>
              <a:off x="8861" y="4476"/>
              <a:ext cx="2855" cy="433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spc="600" dirty="0">
                  <a:solidFill>
                    <a:srgbClr val="9C1E22"/>
                  </a:solidFill>
                  <a:effectLst/>
                  <a:latin typeface="黑体" panose="02010609060101010101" charset="-122"/>
                  <a:ea typeface="黑体" panose="02010609060101010101" charset="-122"/>
                </a:rPr>
                <a:t>第一部分</a:t>
              </a:r>
              <a:endParaRPr lang="zh-CN" altLang="en-US" sz="2400" b="1" spc="600" dirty="0">
                <a:solidFill>
                  <a:srgbClr val="9C1E22"/>
                </a:solidFill>
                <a:effectLst/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979" y="4910"/>
              <a:ext cx="10155" cy="11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4800" b="1" spc="300" dirty="0">
                  <a:solidFill>
                    <a:srgbClr val="576271"/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+mn-ea"/>
                  <a:sym typeface="+mn-lt"/>
                </a:rPr>
                <a:t>整型与浮点型</a:t>
              </a:r>
              <a:r>
                <a:rPr lang="zh-CN" altLang="en-US" sz="4800" b="1" spc="300" dirty="0">
                  <a:solidFill>
                    <a:srgbClr val="576271"/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+mn-ea"/>
                  <a:sym typeface="+mn-lt"/>
                </a:rPr>
                <a:t>转换</a:t>
              </a:r>
              <a:endParaRPr lang="zh-CN" altLang="en-US" sz="4800" b="1" spc="300" dirty="0">
                <a:solidFill>
                  <a:srgbClr val="576271"/>
                </a:solidFill>
                <a:latin typeface="思源黑体 CN Heavy" panose="020B0A00000000000000" charset="-122"/>
                <a:ea typeface="思源黑体 CN Heavy" panose="020B0A00000000000000" charset="-122"/>
                <a:cs typeface="+mn-ea"/>
                <a:sym typeface="+mn-lt"/>
              </a:endParaRPr>
            </a:p>
          </p:txBody>
        </p:sp>
      </p:grpSp>
      <p:pic>
        <p:nvPicPr>
          <p:cNvPr id="7" name="图片 6" descr="资源 1@4x"/>
          <p:cNvPicPr>
            <a:picLocks noChangeAspect="1"/>
          </p:cNvPicPr>
          <p:nvPr/>
        </p:nvPicPr>
        <p:blipFill>
          <a:blip r:embed="rId3"/>
          <a:srcRect t="-7674" r="52556"/>
          <a:stretch>
            <a:fillRect/>
          </a:stretch>
        </p:blipFill>
        <p:spPr>
          <a:xfrm>
            <a:off x="5399405" y="624205"/>
            <a:ext cx="1537970" cy="57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_圆角矩形 9"/>
          <p:cNvSpPr/>
          <p:nvPr>
            <p:custDataLst>
              <p:tags r:id="rId2"/>
            </p:custDataLst>
          </p:nvPr>
        </p:nvSpPr>
        <p:spPr>
          <a:xfrm>
            <a:off x="87776" y="725896"/>
            <a:ext cx="2772000" cy="1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">
                <a:srgbClr val="0070C0"/>
              </a:gs>
              <a:gs pos="99000">
                <a:srgbClr val="00B0F0"/>
              </a:gs>
            </a:gsLst>
            <a:lin ang="0" scaled="1"/>
            <a:tileRect/>
          </a:gra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2" name="PA_矩形 10"/>
          <p:cNvSpPr/>
          <p:nvPr>
            <p:custDataLst>
              <p:tags r:id="rId3"/>
            </p:custDataLst>
          </p:nvPr>
        </p:nvSpPr>
        <p:spPr>
          <a:xfrm>
            <a:off x="87630" y="994410"/>
            <a:ext cx="11871960" cy="48875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1.精确转换 ：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例子：int a = 15; float b = (float)a;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原因：15的二进制为 1111，只需要4位尾数。32位 float 拥有24位有效数字（23位显式+1位隐式），完全可以无损容纳较小的整数。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2.精度丢失/舍入 ：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例子：int a = 16777217; float b = (float)a; 转换后 b 的值变为了 16777216.0。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原因：16777217 是 2^24+1。其二进制表示需要第25位为1（1 0000 0000 0000 0000 0000 0001）。但 float 的有效尾数只有24位，最低位的 1 被迫舍入丢弃，导致数值变成了 2^24（即16777216）。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3.溢出 ：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例子：float f = 3e10; int a = (int)f; 转换后 a 变成了 -2147483648(发生溢出)。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原因：32位有符号 int 的最大值为2147483647。3e10 远远超出了 int 能表示的上限。在C语言标准中，浮点数转整数发生溢出属于未定义行为，在x86架构上通常会被截断为 int 的最小值（0x80000000）。</a:t>
            </a:r>
            <a:endParaRPr lang="zh-CN" altLang="en-US" sz="1600" spc="30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</p:txBody>
      </p:sp>
      <p:pic>
        <p:nvPicPr>
          <p:cNvPr id="3" name="图片 2" descr="资源 1@4x"/>
          <p:cNvPicPr>
            <a:picLocks noChangeAspect="1"/>
          </p:cNvPicPr>
          <p:nvPr/>
        </p:nvPicPr>
        <p:blipFill>
          <a:blip r:embed="rId4">
            <a:alphaModFix amt="60000"/>
          </a:blip>
          <a:srcRect t="-7674" r="52556"/>
          <a:stretch>
            <a:fillRect/>
          </a:stretch>
        </p:blipFill>
        <p:spPr>
          <a:xfrm>
            <a:off x="403860" y="5998845"/>
            <a:ext cx="1537970" cy="5791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7630" y="357505"/>
            <a:ext cx="302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精确、丢失、溢出、舍入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375E-6 -4.44444E-6 L -0.04557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6.25E-7 2.22222E-6 L -0.04557 2.22222E-6 " pathEditMode="relative" rAng="0" ptsTypes="AA">
                                      <p:cBhvr>
                                        <p:cTn id="14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bldLvl="0" animBg="1"/>
      <p:bldP spid="12" grpId="0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_圆角矩形 9"/>
          <p:cNvSpPr/>
          <p:nvPr>
            <p:custDataLst>
              <p:tags r:id="rId2"/>
            </p:custDataLst>
          </p:nvPr>
        </p:nvSpPr>
        <p:spPr>
          <a:xfrm>
            <a:off x="87776" y="725896"/>
            <a:ext cx="2772000" cy="1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">
                <a:srgbClr val="0070C0"/>
              </a:gs>
              <a:gs pos="99000">
                <a:srgbClr val="00B0F0"/>
              </a:gs>
            </a:gsLst>
            <a:lin ang="0" scaled="1"/>
            <a:tileRect/>
          </a:gra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3" name="图片 2" descr="资源 1@4x"/>
          <p:cNvPicPr>
            <a:picLocks noChangeAspect="1"/>
          </p:cNvPicPr>
          <p:nvPr/>
        </p:nvPicPr>
        <p:blipFill>
          <a:blip r:embed="rId3">
            <a:alphaModFix amt="60000"/>
          </a:blip>
          <a:srcRect t="-7674" r="52556"/>
          <a:stretch>
            <a:fillRect/>
          </a:stretch>
        </p:blipFill>
        <p:spPr>
          <a:xfrm>
            <a:off x="403860" y="5998845"/>
            <a:ext cx="1537970" cy="5791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7630" y="357505"/>
            <a:ext cx="302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代码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演示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570" y="943610"/>
            <a:ext cx="7628255" cy="3910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570" y="4839970"/>
            <a:ext cx="7640955" cy="659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375E-6 -4.44444E-6 L -0.04557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5@4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520" y="1616075"/>
            <a:ext cx="12550140" cy="532257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788892" y="1588412"/>
            <a:ext cx="4594178" cy="1660786"/>
            <a:chOff x="7706" y="4476"/>
            <a:chExt cx="4986" cy="1562"/>
          </a:xfrm>
        </p:grpSpPr>
        <p:sp>
          <p:nvSpPr>
            <p:cNvPr id="9" name="矩形 8"/>
            <p:cNvSpPr/>
            <p:nvPr/>
          </p:nvSpPr>
          <p:spPr>
            <a:xfrm>
              <a:off x="8861" y="4476"/>
              <a:ext cx="2855" cy="433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spc="600" dirty="0">
                  <a:solidFill>
                    <a:srgbClr val="9C1E22"/>
                  </a:solidFill>
                  <a:effectLst/>
                  <a:latin typeface="黑体" panose="02010609060101010101" charset="-122"/>
                  <a:ea typeface="黑体" panose="02010609060101010101" charset="-122"/>
                </a:rPr>
                <a:t>第二部分</a:t>
              </a:r>
              <a:endParaRPr lang="zh-CN" altLang="en-US" sz="2400" b="1" spc="600" dirty="0">
                <a:solidFill>
                  <a:srgbClr val="9C1E22"/>
                </a:solidFill>
                <a:effectLst/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706" y="4910"/>
              <a:ext cx="4986" cy="11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4800" b="1" spc="300" dirty="0">
                  <a:solidFill>
                    <a:srgbClr val="576271"/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+mn-ea"/>
                  <a:sym typeface="+mn-lt"/>
                </a:rPr>
                <a:t>添加您的标题</a:t>
              </a:r>
              <a:endParaRPr lang="zh-CN" altLang="en-US" sz="4800" b="1" spc="300" dirty="0">
                <a:solidFill>
                  <a:srgbClr val="576271"/>
                </a:solidFill>
                <a:latin typeface="思源黑体 CN Heavy" panose="020B0A00000000000000" charset="-122"/>
                <a:ea typeface="思源黑体 CN Heavy" panose="020B0A00000000000000" charset="-122"/>
                <a:cs typeface="+mn-ea"/>
                <a:sym typeface="+mn-lt"/>
              </a:endParaRPr>
            </a:p>
          </p:txBody>
        </p:sp>
      </p:grpSp>
      <p:pic>
        <p:nvPicPr>
          <p:cNvPr id="7" name="图片 6" descr="资源 1@4x"/>
          <p:cNvPicPr>
            <a:picLocks noChangeAspect="1"/>
          </p:cNvPicPr>
          <p:nvPr/>
        </p:nvPicPr>
        <p:blipFill>
          <a:blip r:embed="rId3"/>
          <a:srcRect t="-7674" r="52556"/>
          <a:stretch>
            <a:fillRect/>
          </a:stretch>
        </p:blipFill>
        <p:spPr>
          <a:xfrm>
            <a:off x="5399405" y="624205"/>
            <a:ext cx="1537970" cy="57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5@4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520" y="1616075"/>
            <a:ext cx="12550140" cy="532257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788892" y="1588412"/>
            <a:ext cx="4594178" cy="1660786"/>
            <a:chOff x="7706" y="4476"/>
            <a:chExt cx="4986" cy="1562"/>
          </a:xfrm>
        </p:grpSpPr>
        <p:sp>
          <p:nvSpPr>
            <p:cNvPr id="9" name="矩形 8"/>
            <p:cNvSpPr/>
            <p:nvPr/>
          </p:nvSpPr>
          <p:spPr>
            <a:xfrm>
              <a:off x="8861" y="4476"/>
              <a:ext cx="2855" cy="433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spc="600" dirty="0">
                  <a:solidFill>
                    <a:srgbClr val="9C1E22"/>
                  </a:solidFill>
                  <a:effectLst/>
                  <a:latin typeface="黑体" panose="02010609060101010101" charset="-122"/>
                  <a:ea typeface="黑体" panose="02010609060101010101" charset="-122"/>
                </a:rPr>
                <a:t>第</a:t>
              </a:r>
              <a:r>
                <a:rPr lang="zh-CN" altLang="en-US" sz="2400" b="1" spc="600" dirty="0">
                  <a:solidFill>
                    <a:srgbClr val="9C1E22"/>
                  </a:solidFill>
                  <a:effectLst/>
                  <a:latin typeface="黑体" panose="02010609060101010101" charset="-122"/>
                  <a:ea typeface="黑体" panose="02010609060101010101" charset="-122"/>
                </a:rPr>
                <a:t>三部分</a:t>
              </a:r>
              <a:endParaRPr lang="zh-CN" altLang="en-US" sz="2400" b="1" spc="600" dirty="0">
                <a:solidFill>
                  <a:srgbClr val="9C1E22"/>
                </a:solidFill>
                <a:effectLst/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706" y="4910"/>
              <a:ext cx="4986" cy="11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4800" b="1" spc="300" dirty="0">
                  <a:solidFill>
                    <a:srgbClr val="576271"/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+mn-ea"/>
                  <a:sym typeface="+mn-lt"/>
                </a:rPr>
                <a:t>添加您的标题</a:t>
              </a:r>
              <a:endParaRPr lang="zh-CN" altLang="en-US" sz="4800" b="1" spc="300" dirty="0">
                <a:solidFill>
                  <a:srgbClr val="576271"/>
                </a:solidFill>
                <a:latin typeface="思源黑体 CN Heavy" panose="020B0A00000000000000" charset="-122"/>
                <a:ea typeface="思源黑体 CN Heavy" panose="020B0A00000000000000" charset="-122"/>
                <a:cs typeface="+mn-ea"/>
                <a:sym typeface="+mn-lt"/>
              </a:endParaRPr>
            </a:p>
          </p:txBody>
        </p:sp>
      </p:grpSp>
      <p:pic>
        <p:nvPicPr>
          <p:cNvPr id="7" name="图片 6" descr="资源 1@4x"/>
          <p:cNvPicPr>
            <a:picLocks noChangeAspect="1"/>
          </p:cNvPicPr>
          <p:nvPr/>
        </p:nvPicPr>
        <p:blipFill>
          <a:blip r:embed="rId3"/>
          <a:srcRect t="-7674" r="52556"/>
          <a:stretch>
            <a:fillRect/>
          </a:stretch>
        </p:blipFill>
        <p:spPr>
          <a:xfrm>
            <a:off x="5399405" y="624205"/>
            <a:ext cx="1537970" cy="57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5@4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520" y="1616075"/>
            <a:ext cx="12550140" cy="532257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788892" y="1588412"/>
            <a:ext cx="4594178" cy="1660786"/>
            <a:chOff x="7706" y="4476"/>
            <a:chExt cx="4986" cy="1562"/>
          </a:xfrm>
        </p:grpSpPr>
        <p:sp>
          <p:nvSpPr>
            <p:cNvPr id="9" name="矩形 8"/>
            <p:cNvSpPr/>
            <p:nvPr/>
          </p:nvSpPr>
          <p:spPr>
            <a:xfrm>
              <a:off x="8861" y="4476"/>
              <a:ext cx="2855" cy="433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spc="600" dirty="0">
                  <a:solidFill>
                    <a:srgbClr val="9C1E22"/>
                  </a:solidFill>
                  <a:effectLst/>
                  <a:latin typeface="黑体" panose="02010609060101010101" charset="-122"/>
                  <a:ea typeface="黑体" panose="02010609060101010101" charset="-122"/>
                </a:rPr>
                <a:t>第</a:t>
              </a:r>
              <a:r>
                <a:rPr lang="zh-CN" altLang="en-US" sz="2400" b="1" spc="600" dirty="0">
                  <a:solidFill>
                    <a:srgbClr val="9C1E22"/>
                  </a:solidFill>
                  <a:effectLst/>
                  <a:latin typeface="黑体" panose="02010609060101010101" charset="-122"/>
                  <a:ea typeface="黑体" panose="02010609060101010101" charset="-122"/>
                </a:rPr>
                <a:t>四部分</a:t>
              </a:r>
              <a:endParaRPr lang="zh-CN" altLang="en-US" sz="2400" b="1" spc="600" dirty="0">
                <a:solidFill>
                  <a:srgbClr val="9C1E22"/>
                </a:solidFill>
                <a:effectLst/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706" y="4910"/>
              <a:ext cx="4986" cy="11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4800" b="1" spc="300" dirty="0">
                  <a:solidFill>
                    <a:srgbClr val="576271"/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+mn-ea"/>
                  <a:sym typeface="+mn-lt"/>
                </a:rPr>
                <a:t>添加您的标题</a:t>
              </a:r>
              <a:endParaRPr lang="zh-CN" altLang="en-US" sz="4800" b="1" spc="300" dirty="0">
                <a:solidFill>
                  <a:srgbClr val="576271"/>
                </a:solidFill>
                <a:latin typeface="思源黑体 CN Heavy" panose="020B0A00000000000000" charset="-122"/>
                <a:ea typeface="思源黑体 CN Heavy" panose="020B0A00000000000000" charset="-122"/>
                <a:cs typeface="+mn-ea"/>
                <a:sym typeface="+mn-lt"/>
              </a:endParaRPr>
            </a:p>
          </p:txBody>
        </p:sp>
      </p:grpSp>
      <p:pic>
        <p:nvPicPr>
          <p:cNvPr id="7" name="图片 6" descr="资源 1@4x"/>
          <p:cNvPicPr>
            <a:picLocks noChangeAspect="1"/>
          </p:cNvPicPr>
          <p:nvPr/>
        </p:nvPicPr>
        <p:blipFill>
          <a:blip r:embed="rId3"/>
          <a:srcRect t="-7674" r="52556"/>
          <a:stretch>
            <a:fillRect/>
          </a:stretch>
        </p:blipFill>
        <p:spPr>
          <a:xfrm>
            <a:off x="5399405" y="624205"/>
            <a:ext cx="1537970" cy="57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0000"/>
          </a:blip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5@4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5" y="1607185"/>
            <a:ext cx="11905615" cy="525081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2906395" y="2068830"/>
            <a:ext cx="6379210" cy="1529080"/>
            <a:chOff x="4727" y="2833"/>
            <a:chExt cx="10046" cy="2408"/>
          </a:xfrm>
        </p:grpSpPr>
        <p:pic>
          <p:nvPicPr>
            <p:cNvPr id="21" name="图片 20" descr="红楼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/>
            <a:stretch>
              <a:fillRect/>
            </a:stretch>
          </p:blipFill>
          <p:spPr>
            <a:xfrm>
              <a:off x="4727" y="2833"/>
              <a:ext cx="2740" cy="2408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7955" y="2833"/>
              <a:ext cx="5473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4400">
                  <a:solidFill>
                    <a:srgbClr val="960000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谢谢观看</a:t>
              </a:r>
              <a:endParaRPr lang="zh-CN" altLang="en-US" sz="4400">
                <a:solidFill>
                  <a:srgbClr val="960000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8009" y="4008"/>
              <a:ext cx="5182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7955" y="4215"/>
              <a:ext cx="681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rgbClr val="960000"/>
                  </a:solidFill>
                </a:rPr>
                <a:t>thank you for watching</a:t>
              </a:r>
              <a:endParaRPr lang="en-US" altLang="zh-CN" sz="2400">
                <a:solidFill>
                  <a:srgbClr val="960000"/>
                </a:solidFill>
              </a:endParaRPr>
            </a:p>
          </p:txBody>
        </p:sp>
      </p:grpSp>
      <p:pic>
        <p:nvPicPr>
          <p:cNvPr id="19" name="图片 18" descr="资源 1@4x"/>
          <p:cNvPicPr>
            <a:picLocks noChangeAspect="1"/>
          </p:cNvPicPr>
          <p:nvPr/>
        </p:nvPicPr>
        <p:blipFill>
          <a:blip r:embed="rId5"/>
          <a:srcRect t="-7674" r="52556"/>
          <a:stretch>
            <a:fillRect/>
          </a:stretch>
        </p:blipFill>
        <p:spPr>
          <a:xfrm>
            <a:off x="10325100" y="266700"/>
            <a:ext cx="1537970" cy="57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2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3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4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5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6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7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8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9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10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11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12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13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14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15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16.xml><?xml version="1.0" encoding="utf-8"?>
<p:tagLst xmlns:p="http://schemas.openxmlformats.org/presentationml/2006/main">
  <p:tag name="KSO_WM_DIAGRAM_VIRTUALLY_FRAME" val="{&quot;height&quot;:276.69228346456686,&quot;left&quot;:111,&quot;top&quot;:118.93590551181103,&quot;width&quot;:672.7907086614173}"/>
</p:tagLst>
</file>

<file path=ppt/tags/tag17.xml><?xml version="1.0" encoding="utf-8"?>
<p:tagLst xmlns:p="http://schemas.openxmlformats.org/presentationml/2006/main">
  <p:tag name="PA" val="v4.0.0"/>
</p:tagLst>
</file>

<file path=ppt/tags/tag18.xml><?xml version="1.0" encoding="utf-8"?>
<p:tagLst xmlns:p="http://schemas.openxmlformats.org/presentationml/2006/main">
  <p:tag name="PA" val="v4.0.0"/>
</p:tagLst>
</file>

<file path=ppt/tags/tag19.xml><?xml version="1.0" encoding="utf-8"?>
<p:tagLst xmlns:p="http://schemas.openxmlformats.org/presentationml/2006/main">
  <p:tag name="PA" val="v4.0.0"/>
</p:tagLst>
</file>

<file path=ppt/tags/tag20.xml><?xml version="1.0" encoding="utf-8"?>
<p:tagLst xmlns:p="http://schemas.openxmlformats.org/presentationml/2006/main">
  <p:tag name="KSO_WM_UNIT_PLACING_PICTURE_USER_VIEWPORT" val="{&quot;height&quot;:7714,&quot;width&quot;:7159}"/>
</p:tagLst>
</file>

<file path=ppt/tags/tag21.xml><?xml version="1.0" encoding="utf-8"?>
<p:tagLst xmlns:p="http://schemas.openxmlformats.org/presentationml/2006/main">
  <p:tag name="COMMONDATA" val="eyJoZGlkIjoiMWViNmMzNjU5ZWQyN2UxZDdlYzJiODY0ZTE3MzY1ZTIifQ=="/>
  <p:tag name="KSO_WPP_MARK_KEY" val="685cb894-f0a1-4b7b-8377-400752dbab88"/>
  <p:tag name="commondata" val="eyJoZGlkIjoiMjQ5YTAxODNmMDZjZGU4MzhkYzRiYjVjZDQ4MDY5NmU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DE0000"/>
      </a:accent1>
      <a:accent2>
        <a:srgbClr val="B60000"/>
      </a:accent2>
      <a:accent3>
        <a:srgbClr val="960000"/>
      </a:accent3>
      <a:accent4>
        <a:srgbClr val="FF0000"/>
      </a:accent4>
      <a:accent5>
        <a:srgbClr val="D10000"/>
      </a:accent5>
      <a:accent6>
        <a:srgbClr val="810000"/>
      </a:accent6>
      <a:hlink>
        <a:srgbClr val="4472C4"/>
      </a:hlink>
      <a:folHlink>
        <a:srgbClr val="BFBFBF"/>
      </a:folHlink>
    </a:clrScheme>
    <a:fontScheme name="自定义 1">
      <a:majorFont>
        <a:latin typeface="等线 Light"/>
        <a:ea typeface="方正清刻本悦宋简体"/>
        <a:cs typeface=""/>
      </a:majorFont>
      <a:minorFont>
        <a:latin typeface="等线"/>
        <a:ea typeface="方正清刻本悦宋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DE0000"/>
    </a:accent1>
    <a:accent2>
      <a:srgbClr val="B60000"/>
    </a:accent2>
    <a:accent3>
      <a:srgbClr val="960000"/>
    </a:accent3>
    <a:accent4>
      <a:srgbClr val="FF0000"/>
    </a:accent4>
    <a:accent5>
      <a:srgbClr val="D10000"/>
    </a:accent5>
    <a:accent6>
      <a:srgbClr val="810000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WPS 演示</Application>
  <PresentationFormat>宽屏</PresentationFormat>
  <Paragraphs>65</Paragraphs>
  <Slides>9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2" baseType="lpstr">
      <vt:lpstr>Arial</vt:lpstr>
      <vt:lpstr>宋体</vt:lpstr>
      <vt:lpstr>Wingdings</vt:lpstr>
      <vt:lpstr>Wingdings</vt:lpstr>
      <vt:lpstr>思源黑体 CN Heavy</vt:lpstr>
      <vt:lpstr>黑体</vt:lpstr>
      <vt:lpstr>楷体</vt:lpstr>
      <vt:lpstr>微软雅黑</vt:lpstr>
      <vt:lpstr>Gill Sans</vt:lpstr>
      <vt:lpstr>Century Gothic</vt:lpstr>
      <vt:lpstr>庞门正道标题体3.0</vt:lpstr>
      <vt:lpstr>方正清刻本悦宋简体</vt:lpstr>
      <vt:lpstr>Impact</vt:lpstr>
      <vt:lpstr>Arial Unicode MS</vt:lpstr>
      <vt:lpstr>等线 Light</vt:lpstr>
      <vt:lpstr>等线</vt:lpstr>
      <vt:lpstr>Calibri</vt:lpstr>
      <vt:lpstr>清刻本悦宋拼音体</vt:lpstr>
      <vt:lpstr>Montserrat</vt:lpstr>
      <vt:lpstr>GreekS</vt:lpstr>
      <vt:lpstr>GreekC</vt:lpstr>
      <vt:lpstr>Gill Sans MT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冯璨</cp:lastModifiedBy>
  <cp:revision>47</cp:revision>
  <dcterms:created xsi:type="dcterms:W3CDTF">2018-05-25T02:04:00Z</dcterms:created>
  <dcterms:modified xsi:type="dcterms:W3CDTF">2026-03-24T10:34:45Z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296A7E0D281944BCBE19B7C425A6E94C</vt:lpwstr>
  </property>
  <property fmtid="{D5CDD505-2E9C-101B-9397-08002B2CF9AE}" pid="3" name="KSOProductBuildVer">
    <vt:lpwstr>2052-12.1.0.17827</vt:lpwstr>
  </property>
</Properties>
</file>