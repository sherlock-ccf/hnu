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3" r:id="rId16"/>
    <p:sldId id="274" r:id="rId17"/>
  </p:sldIdLst>
  <p:sldSz cx="12192000" cy="6858000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Poppins" panose="00000500000000000000"/>
      <p:regular r:id="rId25"/>
      <p:bold r:id="rId26"/>
      <p:italic r:id="rId27"/>
      <p:boldItalic r:id="rId28"/>
    </p:embeddedFont>
    <p:embeddedFont>
      <p:font typeface="Lato" panose="020F0502020204030203"/>
      <p:regular r:id="rId29"/>
      <p:bold r:id="rId30"/>
      <p:italic r:id="rId31"/>
      <p:boldItalic r:id="rId32"/>
    </p:embeddedFont>
    <p:embeddedFont>
      <p:font typeface="Poppins SemiBold" panose="00000700000000000000"/>
      <p:bold r:id="rId33"/>
      <p:boldItalic r:id="rId34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100"/>
      </p:cViewPr>
      <p:guideLst>
        <p:guide orient="horz" pos="21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.xml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35617" y="2153691"/>
            <a:ext cx="6120765" cy="74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标准二维表问题解析</a:t>
            </a:r>
            <a:endParaRPr lang="en-US" sz="51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524500" y="3231802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05237" y="3622327"/>
            <a:ext cx="45815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从数学推导到 C++ 算法实现的完整落地</a:t>
            </a:r>
            <a:endParaRPr lang="en-US" sz="21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930604" y="2683222"/>
            <a:ext cx="6330791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问题重述与直观感受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了解核心约束，观察在小规模数据下的排列现象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14537"/>
            <a:ext cx="5143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690562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419225" y="571500"/>
            <a:ext cx="252031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核心问题定义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2533054"/>
            <a:ext cx="4857750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背景：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给定正整数 n，要求将1 到2n 这 2n 个正整数填入一个 2 * n的二维数组中。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393876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约束 1（行递增）：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每行从左到右，数字依次递增。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919537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约束 2（列递增）：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每列从上到下，数字依次递增。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445198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目标：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计算对于给定的 n，满足条件的合法标准二维表的总个数，记为 </a:t>
            </a:r>
            <a:r>
              <a:rPr lang="en-US" sz="1650" b="1" i="0" u="none" strike="noStrike" cap="none">
                <a:solidFill>
                  <a:srgbClr val="0284C7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Tab(n)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91275" y="2024062"/>
            <a:ext cx="51244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156817"/>
            <a:ext cx="5143500" cy="352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156817"/>
            <a:ext cx="5143500" cy="352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69056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514475" y="571500"/>
            <a:ext cx="524065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直观感受：当 n=3 时的观察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057275" y="2882503"/>
            <a:ext cx="458057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穷举与验证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57275" y="3473053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当 n=3 时，将 1 到 6 填入 2×3 表格，经穷举共有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5 种合法方案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4286250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观察表格特征可以发现：数字 1 必然位于左上角，而最大的数字 6 必然位于右下角。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2547342"/>
            <a:ext cx="458057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F4444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为何不能用 DFS 爆搜？</a:t>
            </a:r>
            <a:endParaRPr lang="en-US" sz="2250" b="0" i="0" u="none" strike="noStrike" cap="none">
              <a:solidFill>
                <a:srgbClr val="EF4444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772275" y="3137892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如果在代码中使用深度优先搜索（DFS）回溯填数：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772275" y="3951089"/>
            <a:ext cx="43624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随着 n 的增大，虽然存在行列递增的剪枝条件，但排列的搜索空间呈</a:t>
            </a:r>
            <a:r>
              <a:rPr lang="en-US" sz="1650" b="1" i="0" u="none" strike="noStrike" cap="none">
                <a:solidFill>
                  <a:srgbClr val="0284C7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指数级爆炸式增长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。对于 n=20 或更大的数据，DFS 必将导致超时（TLE）。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2870596" y="2683222"/>
            <a:ext cx="6450806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数学建模与卡特兰数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打破二维表格的表象，寻找问题的一维等价映射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285404"/>
            <a:ext cx="10858500" cy="3268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690562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419225" y="571500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建立数学等价模型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581150" y="2709545"/>
            <a:ext cx="9601200" cy="267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问题的抽象本质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：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在数表中每次填一个数字，但只能在第一行填，或者在第二行数字数量小于第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一行时，在第二行填。如果记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表示在第一行填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个数字且第二行填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个数字时（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）的方法数，则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)=f(x-1,y)+f(x,y-1)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，由于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的限制，则令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时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)=0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。而答案等于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n,n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)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，因此问题等价于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n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阶的卡特兰数。</a:t>
            </a:r>
            <a:endParaRPr lang="zh-CN" altLang="en-US" sz="2000" b="1" dirty="0">
              <a:solidFill>
                <a:srgbClr val="0F172A"/>
              </a:solidFill>
              <a:latin typeface="Lato" panose="020F0502020204030203"/>
              <a:ea typeface="宋体" panose="02010600030101010101" pitchFamily="2" charset="-122"/>
              <a:cs typeface="Lato" panose="020F0502020204030203"/>
              <a:sym typeface="Lato" panose="020F0502020204030203"/>
            </a:endParaRPr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2709267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57275" y="4526160"/>
            <a:ext cx="2762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40640" y="14224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543175"/>
            <a:ext cx="51435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3647182"/>
            <a:ext cx="51435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69056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514475" y="571500"/>
            <a:ext cx="546068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结论揭晓：卡特兰数通项公式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57275" y="3124200"/>
            <a:ext cx="43624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Cn</a:t>
            </a:r>
            <a:endParaRPr lang="en-US" sz="825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057275" y="44100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Catalan Number</a:t>
            </a:r>
            <a:endParaRPr lang="en-US" sz="1950" b="1" i="0" u="none" strike="noStrike" cap="none">
              <a:solidFill>
                <a:srgbClr val="0F172A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2148185"/>
            <a:ext cx="54006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组合数学的明珠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2738735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所有符合上述特征（两个等量操作、前缀数量约束）的模型，其答案均指向同一个数列。其通项公式为：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3676015"/>
            <a:ext cx="2282190" cy="734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2695575" y="2683222"/>
            <a:ext cx="68008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算法设计与 C++ 实现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将优雅的数学公式转化为健壮、高效的工程代码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9225" y="446405"/>
            <a:ext cx="683872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核心伪代码实现：复杂度：</a:t>
            </a:r>
            <a:r>
              <a:rPr lang="en-US" altLang="zh-CN" sz="3150" b="0" i="0" u="none" strike="noStrike" cap="none" dirty="0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O(n)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500777"/>
            <a:ext cx="4248743" cy="4239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9225" y="446405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en-US" altLang="zh-CN" sz="31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_</a:t>
            </a: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简单</a:t>
            </a:r>
            <a:r>
              <a:rPr lang="zh-CN" altLang="en-US" sz="3150" b="0" i="0" u="none" strike="noStrike" cap="none" dirty="0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测试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5" name="Google Shape;16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62084" y="1102872"/>
            <a:ext cx="5776580" cy="36179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372447" y="1665767"/>
            <a:ext cx="43097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测试结论是：发现在</a:t>
            </a:r>
            <a:r>
              <a:rPr lang="en-US" altLang="zh-CN" sz="2000" dirty="0"/>
              <a:t>64</a:t>
            </a:r>
            <a:r>
              <a:rPr lang="zh-CN" altLang="en-US" sz="2000" dirty="0"/>
              <a:t>位的整型下，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）当输入</a:t>
            </a:r>
            <a:r>
              <a:rPr lang="en-US" altLang="zh-CN" sz="2000" dirty="0"/>
              <a:t>N</a:t>
            </a:r>
            <a:r>
              <a:rPr lang="zh-CN" altLang="en-US" sz="2000" dirty="0"/>
              <a:t>小于</a:t>
            </a:r>
            <a:r>
              <a:rPr lang="en-US" altLang="zh-CN" sz="2000" dirty="0"/>
              <a:t>49</a:t>
            </a:r>
            <a:r>
              <a:rPr lang="zh-CN" altLang="en-US" sz="2000" dirty="0"/>
              <a:t>时，代码</a:t>
            </a:r>
            <a:r>
              <a:rPr lang="en-US" altLang="zh-CN" sz="2000" dirty="0"/>
              <a:t>      </a:t>
            </a:r>
            <a:r>
              <a:rPr lang="zh-CN" altLang="en-US" sz="2000" dirty="0"/>
              <a:t>可以正确求得卡特兰数；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）当输入</a:t>
            </a:r>
            <a:r>
              <a:rPr lang="en-US" altLang="zh-CN" sz="2000" dirty="0"/>
              <a:t>N</a:t>
            </a:r>
            <a:r>
              <a:rPr lang="zh-CN" altLang="en-US" sz="2000" dirty="0"/>
              <a:t>大于</a:t>
            </a:r>
            <a:r>
              <a:rPr lang="en-US" altLang="zh-CN" sz="2000" dirty="0"/>
              <a:t>50</a:t>
            </a:r>
            <a:r>
              <a:rPr lang="zh-CN" altLang="en-US" sz="2000" dirty="0"/>
              <a:t>，</a:t>
            </a:r>
            <a:r>
              <a:rPr lang="zh-CN" altLang="en-US" sz="2000" b="1" dirty="0"/>
              <a:t>整数溢出；</a:t>
            </a:r>
            <a:endParaRPr lang="en-US" altLang="zh-CN" sz="2000" b="1" dirty="0"/>
          </a:p>
          <a:p>
            <a:r>
              <a:rPr lang="zh-CN" altLang="en-US" sz="2000" b="1" dirty="0"/>
              <a:t>因此本代码可求</a:t>
            </a:r>
            <a:r>
              <a:rPr lang="en-US" altLang="zh-CN" sz="2000" b="1" dirty="0"/>
              <a:t>50</a:t>
            </a:r>
            <a:r>
              <a:rPr lang="zh-CN" altLang="en-US" sz="2000" b="1" dirty="0"/>
              <a:t>阶以内的数</a:t>
            </a:r>
            <a:endParaRPr lang="en-US" altLang="zh-CN" sz="2000" b="1" dirty="0"/>
          </a:p>
          <a:p>
            <a:r>
              <a:rPr lang="zh-CN" altLang="en-US" sz="2000" dirty="0"/>
              <a:t>因此考虑使用高精度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825" y="2301168"/>
            <a:ext cx="4277322" cy="2419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2137" y="446405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真实代码</a:t>
            </a:r>
            <a:r>
              <a:rPr lang="en-US" altLang="zh-CN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: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考虑高精度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17" y="1162494"/>
            <a:ext cx="3833424" cy="40435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478" y="1162494"/>
            <a:ext cx="4568133" cy="36431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95448" y="511046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对拍：数据量</a:t>
            </a:r>
            <a:r>
              <a:rPr lang="en-US" altLang="zh-CN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1~100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66" y="1431597"/>
            <a:ext cx="4393379" cy="32950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993" y="1431597"/>
            <a:ext cx="4393379" cy="3295035"/>
          </a:xfrm>
          <a:prstGeom prst="rect">
            <a:avLst/>
          </a:prstGeom>
        </p:spPr>
      </p:pic>
      <p:pic>
        <p:nvPicPr>
          <p:cNvPr id="8" name="Google Shape;164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419225" y="4917591"/>
            <a:ext cx="8966791" cy="129951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977656" y="5259572"/>
            <a:ext cx="69678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数据量小的测量中，出现测量噪声，因此会有突起的跳变</a:t>
            </a:r>
            <a:endParaRPr lang="zh-CN" altLang="en-US" sz="2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95448" y="511046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对拍：数据量</a:t>
            </a:r>
            <a:r>
              <a:rPr lang="en-US" altLang="zh-CN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1~10000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8" name="Google Shape;16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19225" y="4917591"/>
            <a:ext cx="8966791" cy="129951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977656" y="5259572"/>
            <a:ext cx="803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数据量大的测量中，因为在</a:t>
            </a:r>
            <a:r>
              <a:rPr lang="en-US" altLang="zh-CN" sz="2000" dirty="0"/>
              <a:t>n</a:t>
            </a:r>
            <a:r>
              <a:rPr lang="zh-CN" altLang="en-US" sz="2000" dirty="0"/>
              <a:t>较小时，访存较快，所以计算没有速度差距；在</a:t>
            </a:r>
            <a:r>
              <a:rPr lang="en-US" altLang="zh-CN" sz="2000" dirty="0"/>
              <a:t>n</a:t>
            </a:r>
            <a:r>
              <a:rPr lang="zh-CN" altLang="en-US" sz="2000" dirty="0"/>
              <a:t>较大时，到达访存上限，才能显出算法自生的消耗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972" y="1403844"/>
            <a:ext cx="4412800" cy="3309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40" y="1403844"/>
            <a:ext cx="4140605" cy="31054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95448" y="511046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</a:t>
            </a:r>
            <a:r>
              <a:rPr lang="zh-CN" altLang="en-US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对拍：数据量</a:t>
            </a:r>
            <a:r>
              <a:rPr lang="en-US" altLang="zh-CN" sz="3150" dirty="0">
                <a:ln w="0"/>
                <a:solidFill>
                  <a:srgbClr val="0F172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oppins SemiBold" panose="00000700000000000000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1000~10000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8" name="Google Shape;16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28725" y="4859523"/>
            <a:ext cx="8966791" cy="129951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2438977" y="5304965"/>
            <a:ext cx="6967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合理的数据范围内，发现计算卡特兰数复杂度为</a:t>
            </a:r>
            <a:r>
              <a:rPr lang="en-US" altLang="zh-CN" sz="2000" dirty="0"/>
              <a:t>O</a:t>
            </a:r>
            <a:r>
              <a:rPr lang="zh-CN" altLang="en-US" sz="2000" dirty="0"/>
              <a:t>（</a:t>
            </a:r>
            <a:r>
              <a:rPr lang="en-US" altLang="zh-CN" sz="2000"/>
              <a:t>n^1.44</a:t>
            </a:r>
            <a:r>
              <a:rPr lang="zh-CN" altLang="en-US" sz="2000"/>
              <a:t>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808" y="1245258"/>
            <a:ext cx="4563500" cy="3422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48" y="1432017"/>
            <a:ext cx="4191459" cy="314359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Q5YTAxODNmMDZjZGU4MzhkYzRiYjVjZDQ4MDY5Nm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WPS 演示</Application>
  <PresentationFormat>宽屏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Poppins</vt:lpstr>
      <vt:lpstr>Lato</vt:lpstr>
      <vt:lpstr>Poppins SemiBold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冯璨</cp:lastModifiedBy>
  <cp:revision>11</cp:revision>
  <dcterms:created xsi:type="dcterms:W3CDTF">2026-03-22T08:01:00Z</dcterms:created>
  <dcterms:modified xsi:type="dcterms:W3CDTF">2026-03-25T07:04:58Z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E4EE1C917414481F8FF5AA94B9A1AF0D_12</vt:lpwstr>
  </property>
  <property fmtid="{D5CDD505-2E9C-101B-9397-08002B2CF9AE}" pid="3" name="KSOProductBuildVer">
    <vt:lpwstr>2052-12.1.0.17827</vt:lpwstr>
  </property>
</Properties>
</file>